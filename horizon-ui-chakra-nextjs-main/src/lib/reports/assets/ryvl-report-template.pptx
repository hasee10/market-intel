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us Jakarta Sans ExtraBold"/>
      <p:bold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lus Jakarta Sans SemiBold"/>
      <p:regular r:id="rId32"/>
      <p:bold r:id="rId33"/>
      <p:italic r:id="rId34"/>
      <p:boldItalic r:id="rId35"/>
    </p:embeddedFont>
    <p:embeddedFont>
      <p:font typeface="Inter ExtraBold"/>
      <p:bold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619385-9818-4AFC-A509-18FD5C29BBEC}">
  <a:tblStyle styleId="{B9619385-9818-4AFC-A509-18FD5C29BB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font" Target="fonts/InterSemiBold-italic.fntdata"/><Relationship Id="rId41" Type="http://schemas.openxmlformats.org/officeDocument/2006/relationships/font" Target="fonts/InterMedium-boldItalic.fntdata"/><Relationship Id="rId22" Type="http://schemas.openxmlformats.org/officeDocument/2006/relationships/font" Target="fonts/PlusJakartaSansExtraBold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PlusJakartaSans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ExtraBold-bold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0.xml"/><Relationship Id="rId38" Type="http://schemas.openxmlformats.org/officeDocument/2006/relationships/font" Target="fonts/InterMedium-regular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13" Type="http://schemas.openxmlformats.org/officeDocument/2006/relationships/image" Target="../media/image15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5" Type="http://schemas.openxmlformats.org/officeDocument/2006/relationships/image" Target="../media/image24.png"/><Relationship Id="rId14" Type="http://schemas.openxmlformats.org/officeDocument/2006/relationships/image" Target="../media/image14.png"/><Relationship Id="rId17" Type="http://schemas.openxmlformats.org/officeDocument/2006/relationships/image" Target="../media/image76.png"/><Relationship Id="rId16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6.png"/><Relationship Id="rId13" Type="http://schemas.openxmlformats.org/officeDocument/2006/relationships/image" Target="../media/image4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5" Type="http://schemas.openxmlformats.org/officeDocument/2006/relationships/image" Target="../media/image45.png"/><Relationship Id="rId14" Type="http://schemas.openxmlformats.org/officeDocument/2006/relationships/image" Target="../media/image48.png"/><Relationship Id="rId17" Type="http://schemas.openxmlformats.org/officeDocument/2006/relationships/image" Target="../media/image40.png"/><Relationship Id="rId16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2.png"/><Relationship Id="rId7" Type="http://schemas.openxmlformats.org/officeDocument/2006/relationships/image" Target="../media/image58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61.png"/><Relationship Id="rId8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71.png"/><Relationship Id="rId13" Type="http://schemas.openxmlformats.org/officeDocument/2006/relationships/image" Target="../media/image54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5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7.png"/><Relationship Id="rId13" Type="http://schemas.openxmlformats.org/officeDocument/2006/relationships/image" Target="../media/image73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5" Type="http://schemas.openxmlformats.org/officeDocument/2006/relationships/image" Target="../media/image64.png"/><Relationship Id="rId14" Type="http://schemas.openxmlformats.org/officeDocument/2006/relationships/image" Target="../media/image70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6.png"/><Relationship Id="rId9" Type="http://schemas.openxmlformats.org/officeDocument/2006/relationships/image" Target="../media/image74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986837" y="442912"/>
            <a:ext cx="26717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Ref: RYVL-EXEC-2026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3400" y="2491829"/>
            <a:ext cx="9001125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 your market.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just your store.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3400" y="3813720"/>
            <a:ext cx="781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Benchmarking pricing, stock-outs, and category positioning across 7 major marketplaces. Deliver actionable clarity to drive margins and capture revenue opportunities.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33400" y="6296025"/>
            <a:ext cx="2952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Prepared for: Executive Leadership &amp; Strategy Review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15500" y="6296025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Generated: July 2026 |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86837" y="442912"/>
            <a:ext cx="118586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072729"/>
            <a:ext cx="20193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533400" y="4975770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Anonymized Peer Cohort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667000" y="4975770"/>
            <a:ext cx="1390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Signals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286250" y="4975770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Enterprise Grade Privacy</a:t>
            </a:r>
            <a:endParaRPr/>
          </a:p>
        </p:txBody>
      </p:sp>
      <p:pic>
        <p:nvPicPr>
          <p:cNvPr descr="image.png" id="98" name="Google Shape;9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99482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67000" y="499482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86250" y="4994820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029950" y="476250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Section 01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7812" y="2354609"/>
            <a:ext cx="14763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845468" y="2726084"/>
            <a:ext cx="8501062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Position &amp; Core Performance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2762250" y="4170015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high-level summary of your competitive standing, margin protection zones, and priority inventory actions for this operational cycle.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33400" y="629602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Seller Intelligence Platform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02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152775"/>
            <a:ext cx="5391150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3152775"/>
            <a:ext cx="5391150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33400" y="6296025"/>
            <a:ext cx="2390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Source: Ryvl Aggregated Commerce Engine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03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77462" y="442912"/>
            <a:ext cx="14811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62325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91250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20175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33425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REVENUE (30D)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33425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$1,420,500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66775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+12.4% vs prior period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562350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ORDERS HANDLED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562350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1,284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695700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+8.1% volume growth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391275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PRICE INDEX SCORE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391275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94.2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24625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-3.2% below median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20200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STOCKOUT RISK SKUS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220200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7 SKUs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382125" y="2476500"/>
            <a:ext cx="2076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 required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09625" y="3429000"/>
            <a:ext cx="5080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F46E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Changed This Cycle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543675" y="3429000"/>
            <a:ext cx="5080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Recommended Actions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3425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62350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91275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220200" y="249078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09625" y="3467100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914400" y="378999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00125" y="3790950"/>
            <a:ext cx="46482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Market median price shifted by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-8%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key grocery categories.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14400" y="412143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00125" y="412239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14 tracked competitors adjusted promotional pricing across marketplaces.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14400" y="4689068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00125" y="4690020"/>
            <a:ext cx="46482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demand velocity detected for top tier premium SKUs.</a:t>
            </a:r>
            <a:endParaRPr/>
          </a:p>
        </p:txBody>
      </p:sp>
      <p:pic>
        <p:nvPicPr>
          <p:cNvPr descr="image.png" id="157" name="Google Shape;157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43675" y="3467100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6648450" y="378999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734175" y="379095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Adjust premium product price points upward to protect operating margin.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648450" y="435762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734175" y="435858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Initiate reorder for top 3 high-turnover inventory items immediately.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648450" y="4925258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734175" y="492621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 watchlist to track emerging aggressive marketplace sellers.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Snapshot &amp; Key Signals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457551"/>
            <a:ext cx="11125200" cy="987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666875"/>
            <a:ext cx="5391150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7450" y="1666875"/>
            <a:ext cx="5391150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1943100"/>
            <a:ext cx="6381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1943100"/>
            <a:ext cx="6667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33400" y="6296025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Data Protocol v4.2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04</a:t>
            </a:r>
            <a:endParaRPr/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180" name="Google Shape;18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0" y="442912"/>
            <a:ext cx="10858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838200" y="2295525"/>
            <a:ext cx="50506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Backend Draft &amp; Aggregation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38200" y="2657475"/>
            <a:ext cx="4810125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Ryvl continuously collects public marketplace pricing, stock levels, and category metrics. Data is processed through statistical outlier filters to eliminate noise.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38200" y="3480345"/>
            <a:ext cx="4810125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ingestion pipeline running 24/7 across 7 major sales channels.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572250" y="2295525"/>
            <a:ext cx="50506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Researcher Insights Review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572250" y="2657475"/>
            <a:ext cx="4810125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analysts review model findings, scrub uncertain competitor data, and strip raw private records. Only anonymized, highly reliable signals enter the final report.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572250" y="3480345"/>
            <a:ext cx="48101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Ensures strict compliance with enterprise privacy standards.</a:t>
            </a:r>
            <a:endParaRPr/>
          </a:p>
        </p:txBody>
      </p:sp>
      <p:pic>
        <p:nvPicPr>
          <p:cNvPr descr="image.png" id="187" name="Google Shape;18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48180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1276350" y="4733776"/>
            <a:ext cx="785098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Client-Safe Export Guarantee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276350" y="4962376"/>
            <a:ext cx="7477125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Anything flagged as internal notes or private seller metrics is automatically scrubbed before client PDF/PPTX download.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Validation &amp; Approval Gate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666875"/>
            <a:ext cx="111252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33400" y="5213895"/>
            <a:ext cx="11125200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Data compiled from 140+ active marketplace sellers in your product category over the past 30 days.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533400" y="6296025"/>
            <a:ext cx="1571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Anonymized Cohort Analysis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05</a:t>
            </a:r>
            <a:endParaRPr/>
          </a:p>
        </p:txBody>
      </p:sp>
      <p:pic>
        <p:nvPicPr>
          <p:cNvPr descr="image.png" id="201" name="Google Shape;2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34662" y="442912"/>
            <a:ext cx="102393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533400" y="1666875"/>
            <a:ext cx="5391150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percentile breakdown measures your operational metrics against an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anonymized cohort of category peers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Higher percentiles reflect stronger relative performance.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0700" y="1666875"/>
            <a:ext cx="22479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 Positioning Percentiles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62225"/>
            <a:ext cx="111252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666875"/>
            <a:ext cx="5391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7450" y="1666875"/>
            <a:ext cx="5391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533400" y="6296025"/>
            <a:ext cx="2114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46E5"/>
                </a:solidFill>
                <a:latin typeface="Inter Medium"/>
                <a:ea typeface="Inter Medium"/>
                <a:cs typeface="Inter Medium"/>
                <a:sym typeface="Inter Medium"/>
              </a:rPr>
              <a:t>— Your Store Price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| </a:t>
            </a:r>
            <a:r>
              <a:rPr b="0" i="0" lang="en-US" sz="900" u="none" cap="none" strike="noStrike">
                <a:solidFill>
                  <a:srgbClr val="F59E0B"/>
                </a:solidFill>
                <a:latin typeface="Inter Medium"/>
                <a:ea typeface="Inter Medium"/>
                <a:cs typeface="Inter Medium"/>
                <a:sym typeface="Inter Medium"/>
              </a:rPr>
              <a:t>- - Market Median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06</a:t>
            </a:r>
            <a:endParaRPr/>
          </a:p>
        </p:txBody>
      </p:sp>
      <p:pic>
        <p:nvPicPr>
          <p:cNvPr descr="image.png" id="218" name="Google Shape;21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29825" y="442912"/>
            <a:ext cx="1628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2762250"/>
            <a:ext cx="107251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733425" y="1828800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YOUR CURRENT PRICE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733425" y="1971675"/>
            <a:ext cx="499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$24.90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467475" y="1828800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RECOMMENDED OPTIMAL BAND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467475" y="1971675"/>
            <a:ext cx="499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$25.40 – $26.20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Price Trend &amp; Action Band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533400" y="1666875"/>
            <a:ext cx="11125200" cy="3139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19"/>
          <p:cNvGraphicFramePr/>
          <p:nvPr/>
        </p:nvGraphicFramePr>
        <p:xfrm>
          <a:off x="533400" y="1666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{B9619385-9818-4AFC-A509-18FD5C29BBEC}</a:tableStyleId>
              </a:tblPr>
              <a:tblGrid>
                <a:gridCol w="3278825"/>
                <a:gridCol w="1677150"/>
                <a:gridCol w="1919000"/>
                <a:gridCol w="2342100"/>
                <a:gridCol w="1889075"/>
              </a:tblGrid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Tracked Product SKU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 Delta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Stock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Category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Premium Basmati Rice 5kg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-7.5%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Demand Rising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Cold Pressed Olive Oil 1L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Instant Noodles 12-Pack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 of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Supply Void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Opportunity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Organic Black Tea 950g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Flat Trend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Natural Raw Honey 500g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-4.2%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Competitor Promo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19"/>
          <p:cNvSpPr txBox="1"/>
          <p:nvPr/>
        </p:nvSpPr>
        <p:spPr>
          <a:xfrm>
            <a:off x="533400" y="4940200"/>
            <a:ext cx="11125200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Public marketplace signals only. Private seller data remains strictly confidential.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33400" y="6296025"/>
            <a:ext cx="1828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Automated Crawler Network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07</a:t>
            </a:r>
            <a:endParaRPr/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40" name="Google Shape;2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96525" y="442912"/>
            <a:ext cx="1362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/>
          <p:nvPr/>
        </p:nvSpPr>
        <p:spPr>
          <a:xfrm>
            <a:off x="542925" y="2149673"/>
            <a:ext cx="3278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821757" y="2149673"/>
            <a:ext cx="1677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498901" y="2149673"/>
            <a:ext cx="1918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7417891" y="2149673"/>
            <a:ext cx="23421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9759999" y="2149673"/>
            <a:ext cx="1889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97830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/>
          <p:nvPr/>
        </p:nvSpPr>
        <p:spPr>
          <a:xfrm>
            <a:off x="542925" y="2679203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821757" y="2679203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498901" y="2679203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7417891" y="2679203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9759999" y="2679203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42925" y="3208734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821757" y="3208734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5498901" y="3208734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417891" y="3208734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9759999" y="3208734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2925" y="3738264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3821757" y="3738264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5498901" y="3738264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417891" y="3738264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9759999" y="3738264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42925" y="4267795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821757" y="4267795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498901" y="4267795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7417891" y="4267795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9759999" y="4267795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0351" y="2292548"/>
            <a:ext cx="7620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31449" y="2292548"/>
            <a:ext cx="714375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0351" y="2822078"/>
            <a:ext cx="62865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31449" y="2822078"/>
            <a:ext cx="6858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70351" y="3351609"/>
            <a:ext cx="866775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31449" y="3351609"/>
            <a:ext cx="847725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70351" y="3881139"/>
            <a:ext cx="62865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931449" y="3881139"/>
            <a:ext cx="6858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70351" y="4410670"/>
            <a:ext cx="7620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931449" y="4410670"/>
            <a:ext cx="638175" cy="253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Marketplace SKU Tracking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1666875"/>
            <a:ext cx="5391150" cy="3498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533400" y="6296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Inventory Optimization Module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08</a:t>
            </a:r>
            <a:endParaRPr/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89" name="Google Shape;2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0" y="442912"/>
            <a:ext cx="11430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638175" y="2213312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723900" y="2214264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Stockout Warnings: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Ryvl identifies low-stock velocity 5 to 7 days before total depletion across marketplace fulfillment nodes.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38175" y="2857142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23900" y="2858095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Capturing Supply Voids: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When key category rivals suffer out-of-stock events, our automated alerts signal optimal price increase windows.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638175" y="3500973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723900" y="3501925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Fulfillment Efficiency: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Aligning reorder schedules with peak category search volume prevents costly stock pauses.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638175" y="4144803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723900" y="4145756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Margin Safety Net: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Safeguards your minimum threshold price during automated dynamic repricing campaigns.</a:t>
            </a:r>
            <a:endParaRPr/>
          </a:p>
        </p:txBody>
      </p:sp>
      <p:pic>
        <p:nvPicPr>
          <p:cNvPr descr="image.png" id="298" name="Google Shape;2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76975" y="1676400"/>
            <a:ext cx="5372100" cy="347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Inventory &amp; Demand Velocity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978300"/>
            <a:ext cx="111252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/>
          <p:nvPr/>
        </p:nvSpPr>
        <p:spPr>
          <a:xfrm>
            <a:off x="533400" y="1666875"/>
            <a:ext cx="11125200" cy="3139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1"/>
          <p:cNvGraphicFramePr/>
          <p:nvPr/>
        </p:nvGraphicFramePr>
        <p:xfrm>
          <a:off x="533400" y="1666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{B9619385-9818-4AFC-A509-18FD5C29BBEC}</a:tableStyleId>
              </a:tblPr>
              <a:tblGrid>
                <a:gridCol w="2561925"/>
                <a:gridCol w="1728925"/>
                <a:gridCol w="1413425"/>
                <a:gridCol w="1350325"/>
                <a:gridCol w="4051550"/>
              </a:tblGrid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Product 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Revenue Share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 Index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Stock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Basmati Rice 5kg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Raise price range +3% to optimize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Olive Oil 1L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Accelerate reorder before promo campaign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Instant Noodles 12-Pack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 to competitive watchlist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 Pack 950g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Maintain current pricing 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Honey 500g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 vendor cost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21"/>
          <p:cNvSpPr txBox="1"/>
          <p:nvPr/>
        </p:nvSpPr>
        <p:spPr>
          <a:xfrm>
            <a:off x="533400" y="6296025"/>
            <a:ext cx="1600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Portfolio Performance Matrix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09</a:t>
            </a:r>
            <a:endParaRPr/>
          </a:p>
        </p:txBody>
      </p:sp>
      <p:pic>
        <p:nvPicPr>
          <p:cNvPr descr="image.png" id="311" name="Google Shape;3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13" name="Google Shape;31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86975" y="442912"/>
            <a:ext cx="15716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542925" y="2149673"/>
            <a:ext cx="25619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104852" y="2149673"/>
            <a:ext cx="1728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4833788" y="2149673"/>
            <a:ext cx="1413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247209" y="2149673"/>
            <a:ext cx="13503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7597526" y="2149673"/>
            <a:ext cx="405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42925" y="2679203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104852" y="2679203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833788" y="2679203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6247209" y="2679203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7597526" y="2679203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42925" y="3208734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104852" y="3208734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833788" y="3208734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247209" y="3208734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7597526" y="3208734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42925" y="3738264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3104852" y="3738264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833788" y="3738264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6247209" y="3738264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7597526" y="3738264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42925" y="4267795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3104852" y="4267795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4833788" y="4267795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247209" y="4267795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7597526" y="4267795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771525" y="5173563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Top 2 product lines generate 40% of revenue. Securing inventory for Olive Oil 1L is top priority.</a:t>
            </a:r>
            <a:endParaRPr/>
          </a:p>
        </p:txBody>
      </p:sp>
      <p:pic>
        <p:nvPicPr>
          <p:cNvPr descr="image.png" id="340" name="Google Shape;34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48925" y="5159275"/>
            <a:ext cx="971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8659" y="2292548"/>
            <a:ext cx="638175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8659" y="2822078"/>
            <a:ext cx="447675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18659" y="3351609"/>
            <a:ext cx="4191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18659" y="3881139"/>
            <a:ext cx="419100" cy="253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18659" y="4410670"/>
            <a:ext cx="638175" cy="25330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Portfolio Revenue Contribution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666875"/>
            <a:ext cx="3555950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66875"/>
            <a:ext cx="3555950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2500" y="1666875"/>
            <a:ext cx="3556099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2"/>
          <p:cNvSpPr txBox="1"/>
          <p:nvPr/>
        </p:nvSpPr>
        <p:spPr>
          <a:xfrm>
            <a:off x="533400" y="6296025"/>
            <a:ext cx="1762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Customer Analytics Module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11239500" y="62960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</a:t>
            </a:r>
            <a:endParaRPr/>
          </a:p>
        </p:txBody>
      </p:sp>
      <p:pic>
        <p:nvPicPr>
          <p:cNvPr descr="image.png" id="358" name="Google Shape;3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60" name="Google Shape;36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39437" y="442912"/>
            <a:ext cx="91916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/>
        </p:nvSpPr>
        <p:spPr>
          <a:xfrm>
            <a:off x="771525" y="2562225"/>
            <a:ext cx="32336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Win-Back Segment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771525" y="2924175"/>
            <a:ext cx="3079700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146 accounts inactive over the last 30 days. Trigger automated targeted re-engagement offers before complete churn.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71525" y="3658195"/>
            <a:ext cx="3079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Target: 18% Recovery</a:t>
            </a:r>
            <a:endParaRPr/>
          </a:p>
        </p:txBody>
      </p:sp>
      <p:pic>
        <p:nvPicPr>
          <p:cNvPr descr="image.png" id="365" name="Google Shape;36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607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4556075" y="2562225"/>
            <a:ext cx="32336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Bundle Expansion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4556075" y="2924175"/>
            <a:ext cx="3079700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 Pack 950g is frequently co-purchased with pantry staples. Create automated bundle kits to boost Average Order Value by 14%.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4556075" y="3658195"/>
            <a:ext cx="3079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Target: +$3.40 AOV</a:t>
            </a:r>
            <a:endParaRPr/>
          </a:p>
        </p:txBody>
      </p:sp>
      <p:pic>
        <p:nvPicPr>
          <p:cNvPr descr="image.png" id="369" name="Google Shape;369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4062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>
            <a:off x="8340625" y="2562225"/>
            <a:ext cx="32338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Margin Protection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8340625" y="2924175"/>
            <a:ext cx="3079849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Limit promotional discount codes strictly to high-LTV at-risk customer cohorts to prevent unnecessary margin erosion.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8340625" y="3658195"/>
            <a:ext cx="30798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Target: Protect Gross Margin</a:t>
            </a:r>
            <a:endParaRPr/>
          </a:p>
        </p:txBody>
      </p:sp>
      <p:pic>
        <p:nvPicPr>
          <p:cNvPr descr="image.png" id="373" name="Google Shape;37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2057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51325" y="2057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64450" y="2057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Health &amp; LTV Strategy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0175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340102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2350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20200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/>
          <p:nvPr/>
        </p:nvSpPr>
        <p:spPr>
          <a:xfrm>
            <a:off x="533400" y="6296025"/>
            <a:ext cx="1371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Execution Planning Guide</a:t>
            </a:r>
            <a:endParaRPr/>
          </a:p>
        </p:txBody>
      </p:sp>
      <p:sp>
        <p:nvSpPr>
          <p:cNvPr id="392" name="Google Shape;392;p23"/>
          <p:cNvSpPr txBox="1"/>
          <p:nvPr/>
        </p:nvSpPr>
        <p:spPr>
          <a:xfrm>
            <a:off x="11268075" y="6296025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11</a:t>
            </a:r>
            <a:endParaRPr/>
          </a:p>
        </p:txBody>
      </p:sp>
      <p:pic>
        <p:nvPicPr>
          <p:cNvPr descr="image.png" id="393" name="Google Shape;39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914400" y="41910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95" name="Google Shape;395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806112" y="442912"/>
            <a:ext cx="85248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 txBox="1"/>
          <p:nvPr/>
        </p:nvSpPr>
        <p:spPr>
          <a:xfrm>
            <a:off x="733425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01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733425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 Adjustment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733425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recommended price ranges for top tier SKUs to capture immediate revenue lift.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3562350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02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3562350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Stock Rebalancing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3562350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Reorder high-turnover inventory items to mitigate predicted stockout risks.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6391275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03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6391275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Watchlist Scale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6391275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 tracking to 5 additional category competitors to capture emerging market shifts.</a:t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9220200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04</a:t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9220200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Retention Blitz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9220200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Launch automated win-back and bundle offers to maximize customer repeat LTV.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Action Roadmap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