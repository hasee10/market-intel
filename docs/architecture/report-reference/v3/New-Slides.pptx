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0287000" cx="18288000"/>
  <p:notesSz cx="10287000" cy="18288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839700" cy="10287000"/>
          </a:xfrm>
          <a:prstGeom prst="rect">
            <a:avLst/>
          </a:prstGeom>
          <a:solidFill>
            <a:srgbClr val="4B3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8397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60960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238250" y="622935"/>
            <a:ext cx="59269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00100" y="2922151"/>
            <a:ext cx="1236345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SELLER MARKET INTELLIGENCE — MONTHLY BRIEFING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00100" y="3295531"/>
            <a:ext cx="12363450" cy="889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50"/>
              <a:buFont typeface="Inter"/>
              <a:buNone/>
            </a:pPr>
            <a:r>
              <a:rPr b="1" i="0" lang="en-US" sz="6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Aura Mobile Accessories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00100" y="4337923"/>
            <a:ext cx="123634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Inter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Market intelligence for Mobiles &amp; Electronics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00100" y="5115163"/>
            <a:ext cx="11239500" cy="9525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00100" y="5353288"/>
            <a:ext cx="12044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Last 30 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137886" y="5448538"/>
            <a:ext cx="38100" cy="38100"/>
          </a:xfrm>
          <a:prstGeom prst="ellipse">
            <a:avLst/>
          </a:prstGeom>
          <a:solidFill>
            <a:srgbClr val="FFFFFF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385536" y="5353288"/>
            <a:ext cx="22221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Generated 4 Aug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615220" y="5448538"/>
            <a:ext cx="38100" cy="38100"/>
          </a:xfrm>
          <a:prstGeom prst="ellipse">
            <a:avLst/>
          </a:prstGeom>
          <a:solidFill>
            <a:srgbClr val="FFFFFF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862870" y="5353288"/>
            <a:ext cx="14529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Ref: 7F3A1C9D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00100" y="6000988"/>
            <a:ext cx="1236345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CYCLE COVERS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00100" y="6328648"/>
            <a:ext cx="5951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Market position &amp; percentiles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629400" y="6328648"/>
            <a:ext cx="5951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SKU performance &amp; portfolio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00100" y="6679168"/>
            <a:ext cx="5951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Pricing intelligence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629400" y="6679168"/>
            <a:ext cx="5951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Inventory &amp; demand risk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00100" y="7029688"/>
            <a:ext cx="5951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Competitor tracking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629400" y="7029688"/>
            <a:ext cx="59512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Prioritised recommendations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00100" y="9063990"/>
            <a:ext cx="3237024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REVENUE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00100" y="9334500"/>
            <a:ext cx="23618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Rs 2,145,000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042523" y="9486900"/>
            <a:ext cx="7765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F2BD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CF2BD"/>
                </a:solidFill>
                <a:latin typeface="Inter"/>
                <a:ea typeface="Inter"/>
                <a:cs typeface="Inter"/>
                <a:sym typeface="Inter"/>
              </a:rPr>
              <a:t>+18.4%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161949" y="9063990"/>
            <a:ext cx="9525" cy="689610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590574" y="9063990"/>
            <a:ext cx="1502866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ORDERS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90574" y="9334500"/>
            <a:ext cx="6528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312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262443" y="9486900"/>
            <a:ext cx="77057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F2BD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CF2BD"/>
                </a:solidFill>
                <a:latin typeface="Inter"/>
                <a:ea typeface="Inter"/>
                <a:cs typeface="Inter"/>
                <a:sym typeface="Inter"/>
              </a:rPr>
              <a:t>+12.0%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375916" y="9063990"/>
            <a:ext cx="9525" cy="689610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804541" y="9063990"/>
            <a:ext cx="1678234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INDEX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804541" y="9334500"/>
            <a:ext cx="678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502247" y="9502140"/>
            <a:ext cx="904161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vs. market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2839700" y="0"/>
            <a:ext cx="5448300" cy="102870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6517779" y="609600"/>
            <a:ext cx="1313021" cy="36957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9E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6734949" y="702945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AF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3AF0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6858" y="3438168"/>
            <a:ext cx="4987290" cy="332482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13296900" y="8993505"/>
            <a:ext cx="4533900" cy="9525"/>
          </a:xfrm>
          <a:prstGeom prst="rect">
            <a:avLst/>
          </a:prstGeom>
          <a:solidFill>
            <a:srgbClr val="E1E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3296900" y="9210675"/>
            <a:ext cx="46699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845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Generated automatically from your store data and Ryvl’s market scan across 11 tracked marketplaces.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7285851" y="434340"/>
            <a:ext cx="278249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What’s in this report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8 of 12 sections have enough tracked data this cycle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00100" y="2339340"/>
            <a:ext cx="8534400" cy="6842760"/>
          </a:xfrm>
          <a:prstGeom prst="roundRect">
            <a:avLst>
              <a:gd fmla="val 27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104900" y="3185160"/>
            <a:ext cx="79248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1104900" y="279273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638300" y="2758440"/>
            <a:ext cx="702791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Executive Snapshot &amp; Key Signals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217813" y="276034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8332113" y="280797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104900" y="3790950"/>
            <a:ext cx="79248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104900" y="339852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638300" y="3364230"/>
            <a:ext cx="702791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Market Position &amp; Benchmark Percentiles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217813" y="336613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332113" y="341376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104900" y="4396740"/>
            <a:ext cx="79248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104900" y="400431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638300" y="3970020"/>
            <a:ext cx="702791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Pricing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217813" y="397192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332113" y="401955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04900" y="5002530"/>
            <a:ext cx="79248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104900" y="461010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638300" y="4575810"/>
            <a:ext cx="702791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Marketplace &amp; Competitor 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217813" y="457771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8332113" y="462534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104900" y="5608320"/>
            <a:ext cx="79248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104900" y="521589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638300" y="5181600"/>
            <a:ext cx="702791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SKU Performance &amp; 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217813" y="518350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332113" y="523113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104900" y="582168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638300" y="5787390"/>
            <a:ext cx="702791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Inventory &amp; Demand Risk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217813" y="578929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8332113" y="583692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563100" y="2339340"/>
            <a:ext cx="7924800" cy="3535680"/>
          </a:xfrm>
          <a:prstGeom prst="roundRect">
            <a:avLst>
              <a:gd fmla="val 53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867900" y="3185160"/>
            <a:ext cx="73152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867900" y="279273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401300" y="2758440"/>
            <a:ext cx="635735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Prioritised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6371214" y="276034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6485514" y="280797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867900" y="3790950"/>
            <a:ext cx="73152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867900" y="339852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0401300" y="3364230"/>
            <a:ext cx="635735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Methodology &amp; 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6371214" y="3366135"/>
            <a:ext cx="811887" cy="270510"/>
          </a:xfrm>
          <a:prstGeom prst="roundRect">
            <a:avLst>
              <a:gd fmla="val 28169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6485514" y="3413760"/>
            <a:ext cx="659487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Included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867900" y="4396740"/>
            <a:ext cx="73152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9867900" y="400431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EE6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C6CEE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401300" y="3970020"/>
            <a:ext cx="577519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Customer Health &amp; Retention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5841981" y="3971925"/>
            <a:ext cx="1341120" cy="270510"/>
          </a:xfrm>
          <a:prstGeom prst="roundRect">
            <a:avLst>
              <a:gd fmla="val 28169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5956281" y="4019550"/>
            <a:ext cx="118872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Not enough data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867900" y="5002530"/>
            <a:ext cx="73152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867900" y="461010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EE6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C6CEE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401300" y="4575810"/>
            <a:ext cx="577519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Strategic Action Roadmap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5841981" y="4577715"/>
            <a:ext cx="1341120" cy="270510"/>
          </a:xfrm>
          <a:prstGeom prst="roundRect">
            <a:avLst>
              <a:gd fmla="val 28169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5956281" y="4625340"/>
            <a:ext cx="118872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Not enough data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867900" y="5215890"/>
            <a:ext cx="4191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EE6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C6CEE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401300" y="5181600"/>
            <a:ext cx="640921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Appendix (internal copies only)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6418362" y="5183505"/>
            <a:ext cx="764738" cy="270510"/>
          </a:xfrm>
          <a:prstGeom prst="roundRect">
            <a:avLst>
              <a:gd fmla="val 28169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6532662" y="5231130"/>
            <a:ext cx="61233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Omitted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563100" y="6103620"/>
            <a:ext cx="7924800" cy="1487805"/>
          </a:xfrm>
          <a:prstGeom prst="roundRect">
            <a:avLst>
              <a:gd fmla="val 12804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9867900" y="6370320"/>
            <a:ext cx="804672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HOW THIS REPORT IS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867900" y="6667500"/>
            <a:ext cx="753465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14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Sections appear only when the underlying data clears Ryvl’s coverage threshold, so length varies by seller and by cycle — from 3 slides to 20.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800100" y="9791700"/>
            <a:ext cx="6949595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Section inclusion is decided at generation time from your account’s tracked coverage.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7283708" y="434340"/>
            <a:ext cx="28039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Executive Snapshot &amp; Key Signals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Aura Mobile Accessories · Last 30 days vs. prior 30 days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00100" y="2301240"/>
            <a:ext cx="4029075" cy="1794510"/>
          </a:xfrm>
          <a:prstGeom prst="roundRect">
            <a:avLst>
              <a:gd fmla="val 106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066800" y="2548890"/>
            <a:ext cx="384524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66800" y="2846070"/>
            <a:ext cx="3845243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2,145,000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066800" y="3569970"/>
            <a:ext cx="785455" cy="278130"/>
          </a:xfrm>
          <a:prstGeom prst="roundRect">
            <a:avLst>
              <a:gd fmla="val 34247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181100" y="3617595"/>
            <a:ext cx="633055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+18.4%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4225" y="3467100"/>
            <a:ext cx="1238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5019675" y="2301240"/>
            <a:ext cx="4029075" cy="1794510"/>
          </a:xfrm>
          <a:prstGeom prst="roundRect">
            <a:avLst>
              <a:gd fmla="val 106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286375" y="2548890"/>
            <a:ext cx="384524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286375" y="2846070"/>
            <a:ext cx="3845243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312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286375" y="3569970"/>
            <a:ext cx="780693" cy="278130"/>
          </a:xfrm>
          <a:prstGeom prst="roundRect">
            <a:avLst>
              <a:gd fmla="val 34247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400675" y="3617595"/>
            <a:ext cx="62829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+12.0%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0" y="3467100"/>
            <a:ext cx="1238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9239250" y="2301240"/>
            <a:ext cx="4029075" cy="1794510"/>
          </a:xfrm>
          <a:prstGeom prst="roundRect">
            <a:avLst>
              <a:gd fmla="val 106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9505950" y="2548890"/>
            <a:ext cx="384524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PRICE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505950" y="2846070"/>
            <a:ext cx="3845243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104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505950" y="3569970"/>
            <a:ext cx="1731526" cy="278130"/>
          </a:xfrm>
          <a:prstGeom prst="roundRect">
            <a:avLst>
              <a:gd fmla="val 34247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9620250" y="3617595"/>
            <a:ext cx="1579126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65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3965FF"/>
                </a:solidFill>
                <a:latin typeface="Inter"/>
                <a:ea typeface="Inter"/>
                <a:cs typeface="Inter"/>
                <a:sym typeface="Inter"/>
              </a:rPr>
              <a:t>100 = market median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63375" y="3467100"/>
            <a:ext cx="1238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13458825" y="2301240"/>
            <a:ext cx="4029075" cy="1794510"/>
          </a:xfrm>
          <a:prstGeom prst="roundRect">
            <a:avLst>
              <a:gd fmla="val 106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13725525" y="2548890"/>
            <a:ext cx="384524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STOCKOUT RISK SKUS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3725525" y="2846070"/>
            <a:ext cx="3845243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3725525" y="3569970"/>
            <a:ext cx="1386959" cy="278130"/>
          </a:xfrm>
          <a:prstGeom prst="roundRect">
            <a:avLst>
              <a:gd fmla="val 34247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3839825" y="3617595"/>
            <a:ext cx="1234559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Below 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82950" y="3467100"/>
            <a:ext cx="1238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800100" y="4324350"/>
            <a:ext cx="9148286" cy="4895850"/>
          </a:xfrm>
          <a:prstGeom prst="roundRect">
            <a:avLst>
              <a:gd fmla="val 3891" name="adj"/>
            </a:avLst>
          </a:prstGeom>
          <a:solidFill>
            <a:srgbClr val="4B3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2050" y="465391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1428750" y="4648200"/>
            <a:ext cx="1370719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 INSIGHT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162050" y="5021580"/>
            <a:ext cx="8677118" cy="16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“Revenue grew 18.4% this period, driven by higher order volume. Your pricing sits slightly above the tracked market median. Six SKUs are approaching your low-stock threshold and should be reviewed.”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162050" y="8107680"/>
            <a:ext cx="8424386" cy="9525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162050" y="8382000"/>
            <a:ext cx="135683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ORDER 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162050" y="8599170"/>
            <a:ext cx="135683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+12.0%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738438" y="8382000"/>
            <a:ext cx="1664744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AVG. ORDER 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738438" y="8599170"/>
            <a:ext cx="166474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Rs 6,875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594741" y="8382000"/>
            <a:ext cx="1838015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MARKET PERCENTILE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594741" y="8599170"/>
            <a:ext cx="183801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82nd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0138887" y="4324350"/>
            <a:ext cx="7349014" cy="4895850"/>
          </a:xfrm>
          <a:prstGeom prst="roundRect">
            <a:avLst>
              <a:gd fmla="val 38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0443687" y="4610100"/>
            <a:ext cx="741335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What changed this cycle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0443687" y="5116830"/>
            <a:ext cx="713899" cy="274320"/>
          </a:xfrm>
          <a:prstGeom prst="roundRect">
            <a:avLst>
              <a:gd fmla="val 27778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0538937" y="5173980"/>
            <a:ext cx="599599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WATCH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1309985" y="5116830"/>
            <a:ext cx="6049309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35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Zenith Gadgets on Daraz repriced </a:t>
            </a: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32% </a:t>
            </a: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of tracked SKUs this period.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0443687" y="5875020"/>
            <a:ext cx="6739414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0443687" y="6055995"/>
            <a:ext cx="834866" cy="274320"/>
          </a:xfrm>
          <a:prstGeom prst="roundRect">
            <a:avLst>
              <a:gd fmla="val 27778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10538937" y="6113145"/>
            <a:ext cx="7205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B574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1B574"/>
                </a:solidFill>
                <a:latin typeface="Inter"/>
                <a:ea typeface="Inter"/>
                <a:cs typeface="Inter"/>
                <a:sym typeface="Inter"/>
              </a:rPr>
              <a:t>OPENING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1430952" y="6055995"/>
            <a:ext cx="5924712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35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Volt Traders is out of stock on </a:t>
            </a: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45% </a:t>
            </a: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of their tracked assortment.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0443687" y="6814185"/>
            <a:ext cx="6739414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10443687" y="6995160"/>
            <a:ext cx="873443" cy="274320"/>
          </a:xfrm>
          <a:prstGeom prst="roundRect">
            <a:avLst>
              <a:gd fmla="val 27778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10538937" y="7052310"/>
            <a:ext cx="759143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65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3965FF"/>
                </a:solidFill>
                <a:latin typeface="Inter"/>
                <a:ea typeface="Inter"/>
                <a:cs typeface="Inter"/>
                <a:sym typeface="Inter"/>
              </a:rPr>
              <a:t>POSITION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1469529" y="6995160"/>
            <a:ext cx="5884979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35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Your price sits at the </a:t>
            </a: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82nd percentile </a:t>
            </a: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— above most of the category.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800100" y="9791700"/>
            <a:ext cx="7635609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Source: your store orders (312 orders, 30 days) &amp; Ryvl market scan of 42 tracked competitors.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3AF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7226141" y="1428750"/>
            <a:ext cx="4037505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1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0"/>
              <a:buFont typeface="Inter"/>
              <a:buNone/>
            </a:pPr>
            <a:r>
              <a:rPr b="1" i="0" lang="en-US" sz="24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60960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1238250" y="622935"/>
            <a:ext cx="59269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00100" y="5061347"/>
            <a:ext cx="1110615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02 OF 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00100" y="5434727"/>
            <a:ext cx="10399395" cy="1560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91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Inter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Market Position &amp; Benchmark Percentiles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00100" y="7166610"/>
            <a:ext cx="745617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your pricing sits against 42 tracked sellers in Mobiles &amp; Electronics this period.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00100" y="8141970"/>
            <a:ext cx="10096500" cy="9525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851249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1076325" y="8454390"/>
            <a:ext cx="490936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percentile position across the tracked set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890492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>
            <a:off x="1076325" y="8846820"/>
            <a:ext cx="53293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P25 / P75 benchmark range and where you sit in 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00100" y="9448800"/>
            <a:ext cx="11106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 market scan · Daraz · last 30 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1620500" y="0"/>
            <a:ext cx="6667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12077700" y="609600"/>
            <a:ext cx="632841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TRACKED-SET PRICE DISTRIBUTION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9450" y="-605790"/>
            <a:ext cx="9906000" cy="66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12077700" y="4493895"/>
            <a:ext cx="57531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2077700" y="4787265"/>
            <a:ext cx="157865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YOUR PERCENTILE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2077700" y="5213985"/>
            <a:ext cx="165269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3300"/>
              <a:buFont typeface="Inter"/>
              <a:buNone/>
            </a:pPr>
            <a:r>
              <a:rPr b="1" i="0" lang="en-US" sz="33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82nd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3999250" y="4787265"/>
            <a:ext cx="9525" cy="929640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14427637" y="4787265"/>
            <a:ext cx="1598176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SELLERS TRACKED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4427637" y="5213985"/>
            <a:ext cx="1674174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300"/>
              <a:buFont typeface="Inter"/>
              <a:buNone/>
            </a:pPr>
            <a:r>
              <a:rPr b="1" i="0" lang="en-US" sz="33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6368713" y="4787265"/>
            <a:ext cx="9525" cy="929640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16797099" y="4787265"/>
            <a:ext cx="1109901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PRICE INDEX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6797099" y="5213985"/>
            <a:ext cx="1109901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300"/>
              <a:buFont typeface="Inter"/>
              <a:buNone/>
            </a:pPr>
            <a:r>
              <a:rPr b="1" i="0" lang="en-US" sz="33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12077700" y="6136005"/>
            <a:ext cx="5753100" cy="2324100"/>
          </a:xfrm>
          <a:prstGeom prst="roundRect">
            <a:avLst>
              <a:gd fmla="val 8197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2363450" y="6402705"/>
            <a:ext cx="56997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BENCHMARK RANGE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2363450" y="6795135"/>
            <a:ext cx="43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P25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7240607" y="6749415"/>
            <a:ext cx="38064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2363450" y="7179945"/>
            <a:ext cx="5181600" cy="9525"/>
          </a:xfrm>
          <a:prstGeom prst="rect">
            <a:avLst/>
          </a:prstGeom>
          <a:solidFill>
            <a:srgbClr val="E1E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12363450" y="7368540"/>
            <a:ext cx="4289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P75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17255014" y="7322820"/>
            <a:ext cx="36623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75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12363450" y="7753350"/>
            <a:ext cx="5181600" cy="9525"/>
          </a:xfrm>
          <a:prstGeom prst="rect">
            <a:avLst/>
          </a:prstGeom>
          <a:solidFill>
            <a:srgbClr val="E1E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12363450" y="7941945"/>
            <a:ext cx="13405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Your position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17233583" y="7896225"/>
            <a:ext cx="387668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82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2077700" y="8650605"/>
            <a:ext cx="5753100" cy="1102995"/>
          </a:xfrm>
          <a:prstGeom prst="roundRect">
            <a:avLst>
              <a:gd fmla="val 17271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12363450" y="8898255"/>
            <a:ext cx="5337048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79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You price above three quarters of the tracked set — margin held, exposure noted.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7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7287637" y="434340"/>
            <a:ext cx="276463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Market Position &amp; Benchmark Percentiles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Price distribution across 42 tracked sellers · Mobiles &amp; Electronics · Daraz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00100" y="2301240"/>
            <a:ext cx="12105204" cy="6918960"/>
          </a:xfrm>
          <a:prstGeom prst="roundRect">
            <a:avLst>
              <a:gd fmla="val 2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1143000" y="2586990"/>
            <a:ext cx="5144322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Where your price sits in the tracked market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9819084" y="2657475"/>
            <a:ext cx="133350" cy="133350"/>
          </a:xfrm>
          <a:prstGeom prst="roundRect">
            <a:avLst>
              <a:gd fmla="val 21429" name="adj"/>
            </a:avLst>
          </a:prstGeom>
          <a:solidFill>
            <a:srgbClr val="D9D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10028634" y="2625090"/>
            <a:ext cx="121134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Tracked sellers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11373327" y="2657475"/>
            <a:ext cx="133350" cy="133350"/>
          </a:xfrm>
          <a:prstGeom prst="roundRect">
            <a:avLst>
              <a:gd fmla="val 21429" name="adj"/>
            </a:avLst>
          </a:prstGeom>
          <a:solidFill>
            <a:srgbClr val="422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11582877" y="2625090"/>
            <a:ext cx="1055727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Your position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956560"/>
            <a:ext cx="11419404" cy="597789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13095804" y="2301240"/>
            <a:ext cx="4392097" cy="1394460"/>
          </a:xfrm>
          <a:prstGeom prst="roundRect">
            <a:avLst>
              <a:gd fmla="val 136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13362504" y="2548890"/>
            <a:ext cx="4244566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PRICE INDEX VS. MARKET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13362504" y="2846070"/>
            <a:ext cx="95023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104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4350841" y="3143250"/>
            <a:ext cx="20381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100 = market median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3095804" y="3886200"/>
            <a:ext cx="4392097" cy="1440180"/>
          </a:xfrm>
          <a:prstGeom prst="roundRect">
            <a:avLst>
              <a:gd fmla="val 132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13362504" y="4133850"/>
            <a:ext cx="4244566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BENCHMARK 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3362504" y="4469130"/>
            <a:ext cx="45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3362504" y="4880610"/>
            <a:ext cx="452080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P25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5108317" y="4469130"/>
            <a:ext cx="4344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75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5108317" y="4880610"/>
            <a:ext cx="434459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P75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6836510" y="4469130"/>
            <a:ext cx="4608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82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6836510" y="4880610"/>
            <a:ext cx="460891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You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3095804" y="5516880"/>
            <a:ext cx="4392097" cy="3703320"/>
          </a:xfrm>
          <a:prstGeom prst="roundRect">
            <a:avLst>
              <a:gd fmla="val 5144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13362504" y="5764530"/>
            <a:ext cx="4244566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3362504" y="6061710"/>
            <a:ext cx="3974458" cy="1308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You price above three quarters of tracked sellers. That holds margin, but leaves you exposed if Zenith Gadgets keeps repricing downward.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800100" y="9791700"/>
            <a:ext cx="7327047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Source: Ryvl market scan — publicly listed prices from 42 tracked sellers in your category.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/>
          <p:nvPr/>
        </p:nvSpPr>
        <p:spPr>
          <a:xfrm>
            <a:off x="0" y="0"/>
            <a:ext cx="247650" cy="10287000"/>
          </a:xfrm>
          <a:prstGeom prst="rect">
            <a:avLst/>
          </a:prstGeom>
          <a:solidFill>
            <a:srgbClr val="4B3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60960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"/>
          <p:cNvSpPr/>
          <p:nvPr/>
        </p:nvSpPr>
        <p:spPr>
          <a:xfrm>
            <a:off x="1409700" y="622935"/>
            <a:ext cx="59269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6236791" y="672465"/>
            <a:ext cx="1376220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Section 03 of 08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971550" y="3600569"/>
            <a:ext cx="817245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SECTION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971550" y="3954899"/>
            <a:ext cx="8172450" cy="8503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968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6150"/>
              <a:buFont typeface="Inter"/>
              <a:buNone/>
            </a:pPr>
            <a:r>
              <a:rPr b="1" i="0" lang="en-US" sz="61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Pricing Intelligence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71550" y="4976693"/>
            <a:ext cx="7652385" cy="7839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360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Your price against the tracked market median — and the band Ryvl recommends holding this cycle.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971550" y="6141601"/>
            <a:ext cx="74295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971550" y="6415921"/>
            <a:ext cx="1637895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YOUR PRICE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971550" y="6667381"/>
            <a:ext cx="1637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4,200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879646" y="6415921"/>
            <a:ext cx="9525" cy="670560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308271" y="6415921"/>
            <a:ext cx="161392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MARKET MEDIAN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308271" y="6667381"/>
            <a:ext cx="1613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3,950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194578" y="6415921"/>
            <a:ext cx="9525" cy="670560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623203" y="6415921"/>
            <a:ext cx="1183362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GAP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623203" y="6667381"/>
            <a:ext cx="1183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+6.3%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2550" y="2505075"/>
            <a:ext cx="8515350" cy="56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7296566" y="434340"/>
            <a:ext cx="267533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Pricing Intelligence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Aura MagSafe Charger 20W (AUR-MSC20) · tracked against 42 sellers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800100" y="2301240"/>
            <a:ext cx="11556206" cy="6918960"/>
          </a:xfrm>
          <a:prstGeom prst="roundRect">
            <a:avLst>
              <a:gd fmla="val 2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1143000" y="2586990"/>
            <a:ext cx="427940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Market median price — last 90 days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416522" y="2709863"/>
            <a:ext cx="171450" cy="28575"/>
          </a:xfrm>
          <a:prstGeom prst="rect">
            <a:avLst/>
          </a:prstGeom>
          <a:solidFill>
            <a:srgbClr val="422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7664172" y="2625090"/>
            <a:ext cx="119348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Market median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991005" y="2712720"/>
            <a:ext cx="171450" cy="22860"/>
          </a:xfrm>
          <a:prstGeom prst="rect">
            <a:avLst/>
          </a:prstGeom>
          <a:solidFill>
            <a:srgbClr val="EE5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9238655" y="2625090"/>
            <a:ext cx="840581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Your price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0212586" y="2667000"/>
            <a:ext cx="171450" cy="114300"/>
          </a:xfrm>
          <a:prstGeom prst="roundRect">
            <a:avLst>
              <a:gd fmla="val 25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0460236" y="2625090"/>
            <a:ext cx="1629370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Recommended band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975610"/>
            <a:ext cx="10870406" cy="5654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9"/>
          <p:cNvSpPr/>
          <p:nvPr/>
        </p:nvSpPr>
        <p:spPr>
          <a:xfrm>
            <a:off x="1143000" y="8705850"/>
            <a:ext cx="119574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Median has climbed Rs 130 (+3.4%) over the tracked window, narrowing your premium from 9.9% to 6.3%.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2546806" y="2301240"/>
            <a:ext cx="4941094" cy="5173980"/>
          </a:xfrm>
          <a:prstGeom prst="roundRect">
            <a:avLst>
              <a:gd fmla="val 38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12832556" y="2567940"/>
            <a:ext cx="480655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Price ladder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2832556" y="2865120"/>
            <a:ext cx="4806553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Scale starts at Rs 3,700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12832556" y="3291840"/>
            <a:ext cx="943094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Your price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6438245" y="3291840"/>
            <a:ext cx="840105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4,200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2832556" y="3589020"/>
            <a:ext cx="4369594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12832556" y="3589020"/>
            <a:ext cx="3102412" cy="152400"/>
          </a:xfrm>
          <a:prstGeom prst="roundRect">
            <a:avLst>
              <a:gd fmla="val 50000" name="adj"/>
            </a:avLst>
          </a:prstGeom>
          <a:solidFill>
            <a:srgbClr val="422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12832556" y="3931920"/>
            <a:ext cx="1475887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Highest tracked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16497181" y="3931920"/>
            <a:ext cx="781169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4,120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2832556" y="4229100"/>
            <a:ext cx="4369594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12832556" y="4229100"/>
            <a:ext cx="2621756" cy="152400"/>
          </a:xfrm>
          <a:prstGeom prst="roundRect">
            <a:avLst>
              <a:gd fmla="val 50000" name="adj"/>
            </a:avLst>
          </a:prstGeom>
          <a:solidFill>
            <a:srgbClr val="A3AE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12832556" y="4572000"/>
            <a:ext cx="1395734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Market median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6448841" y="4572000"/>
            <a:ext cx="82950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3,950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2832556" y="4869180"/>
            <a:ext cx="4369594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12832556" y="4869180"/>
            <a:ext cx="1573054" cy="152400"/>
          </a:xfrm>
          <a:prstGeom prst="roundRect">
            <a:avLst>
              <a:gd fmla="val 50000" name="adj"/>
            </a:avLst>
          </a:prstGeom>
          <a:solidFill>
            <a:srgbClr val="396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12832556" y="5212080"/>
            <a:ext cx="1427035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Lowest tracked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16460272" y="5212080"/>
            <a:ext cx="81807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3,760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12832556" y="5509260"/>
            <a:ext cx="4369594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12832556" y="5509260"/>
            <a:ext cx="393263" cy="152400"/>
          </a:xfrm>
          <a:prstGeom prst="roundRect">
            <a:avLst>
              <a:gd fmla="val 50000" name="adj"/>
            </a:avLst>
          </a:prstGeom>
          <a:solidFill>
            <a:srgbClr val="A3AE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12546806" y="7665720"/>
            <a:ext cx="4941094" cy="1554480"/>
          </a:xfrm>
          <a:prstGeom prst="roundRect">
            <a:avLst>
              <a:gd fmla="val 12255" name="adj"/>
            </a:avLst>
          </a:prstGeom>
          <a:solidFill>
            <a:srgbClr val="4B3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12832556" y="7913370"/>
            <a:ext cx="480655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RECOMMENDED BAND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2832556" y="8191500"/>
            <a:ext cx="480655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Rs 3,700 – 4,300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12832556" y="8743950"/>
            <a:ext cx="48065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are inside the band, near its upper edge.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800100" y="9791700"/>
            <a:ext cx="6918293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Source: Ryvl market scan — scheduled scrapes of publicly listed prices, last 90 days.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3AF0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10"/>
          <p:cNvPicPr preferRelativeResize="0"/>
          <p:nvPr/>
        </p:nvPicPr>
        <p:blipFill rotWithShape="1">
          <a:blip r:embed="rId4">
            <a:alphaModFix amt="98000"/>
          </a:blip>
          <a:srcRect b="0" l="0" r="0" t="0"/>
          <a:stretch/>
        </p:blipFill>
        <p:spPr>
          <a:xfrm>
            <a:off x="9144000" y="571500"/>
            <a:ext cx="10287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60960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1238250" y="622935"/>
            <a:ext cx="59269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16231910" y="672465"/>
            <a:ext cx="1381589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04 of 08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800100" y="5746432"/>
            <a:ext cx="1047750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00100" y="6100763"/>
            <a:ext cx="9810750" cy="1572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5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Inter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Marketplace &amp; Competitor Tracking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800100" y="7825740"/>
            <a:ext cx="104775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Who moved on price, who ran out of stock, and where that leaves you.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00100" y="8656320"/>
            <a:ext cx="16687800" cy="9525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800100" y="8968740"/>
            <a:ext cx="2250174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COMPETITORS TRACKED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00100" y="9220200"/>
            <a:ext cx="225017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302913" y="8968740"/>
            <a:ext cx="9525" cy="708660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3769638" y="8968740"/>
            <a:ext cx="165583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SKUS MONITORED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769638" y="9220200"/>
            <a:ext cx="16558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732145" y="8968740"/>
            <a:ext cx="9525" cy="708660"/>
          </a:xfrm>
          <a:prstGeom prst="rect">
            <a:avLst/>
          </a:prstGeom>
          <a:solidFill>
            <a:srgbClr val="FFFFFF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6198870" y="8968740"/>
            <a:ext cx="2276499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MOVES OBSERVED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198870" y="9220200"/>
            <a:ext cx="227649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Inter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7283113" y="434340"/>
            <a:ext cx="280988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Marketplace &amp; Competitor Tracking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Top 5 by tracked SKU count · Daraz · Last 30 days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800100" y="2301240"/>
            <a:ext cx="12430125" cy="6918960"/>
          </a:xfrm>
          <a:prstGeom prst="roundRect">
            <a:avLst>
              <a:gd fmla="val 2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914400" y="2396490"/>
            <a:ext cx="12201525" cy="5334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1104900" y="2548890"/>
            <a:ext cx="28783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Competitor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193143" y="2548890"/>
            <a:ext cx="10103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SKUs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508307" y="2548890"/>
            <a:ext cx="203251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Median price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7921823" y="2548890"/>
            <a:ext cx="32438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stock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1364873" y="2548890"/>
            <a:ext cx="15605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Repricing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914400" y="3566160"/>
            <a:ext cx="3164443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1104900" y="3120390"/>
            <a:ext cx="2878376" cy="293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Zenith Gadgets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4078843" y="3566160"/>
            <a:ext cx="1315164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4193143" y="3120390"/>
            <a:ext cx="1010364" cy="293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84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5394007" y="3566160"/>
            <a:ext cx="2337316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5508307" y="3120390"/>
            <a:ext cx="2032516" cy="293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3,890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7731323" y="3566160"/>
            <a:ext cx="3519249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7921823" y="3192780"/>
            <a:ext cx="1428750" cy="1143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7921823" y="3192780"/>
            <a:ext cx="1300163" cy="114300"/>
          </a:xfrm>
          <a:prstGeom prst="roundRect">
            <a:avLst>
              <a:gd fmla="val 50000" name="adj"/>
            </a:avLst>
          </a:prstGeom>
          <a:solidFill>
            <a:srgbClr val="01B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9483923" y="3139440"/>
            <a:ext cx="441722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91%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11250573" y="3566160"/>
            <a:ext cx="1865352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12133541" y="3082290"/>
            <a:ext cx="791885" cy="335280"/>
          </a:xfrm>
          <a:prstGeom prst="roundRect">
            <a:avLst>
              <a:gd fmla="val 28409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12190691" y="3139440"/>
            <a:ext cx="601385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+32%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914400" y="4191000"/>
            <a:ext cx="3164443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1104900" y="3764280"/>
            <a:ext cx="2878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Volt Traders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4078843" y="4191000"/>
            <a:ext cx="1315164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4193143" y="3764280"/>
            <a:ext cx="101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61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5394007" y="4191000"/>
            <a:ext cx="2337316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5508307" y="3764280"/>
            <a:ext cx="20325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4,050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7731323" y="4191000"/>
            <a:ext cx="3519249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7921823" y="3829050"/>
            <a:ext cx="1428750" cy="1143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7921823" y="3829050"/>
            <a:ext cx="785813" cy="114300"/>
          </a:xfrm>
          <a:prstGeom prst="roundRect">
            <a:avLst>
              <a:gd fmla="val 50000" name="adj"/>
            </a:avLst>
          </a:prstGeom>
          <a:solidFill>
            <a:srgbClr val="EE5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9483923" y="3775710"/>
            <a:ext cx="47113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D50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EE5D50"/>
                </a:solidFill>
                <a:latin typeface="Inter"/>
                <a:ea typeface="Inter"/>
                <a:cs typeface="Inter"/>
                <a:sym typeface="Inter"/>
              </a:rPr>
              <a:t>55%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1250573" y="4191000"/>
            <a:ext cx="1865352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11364873" y="3764280"/>
            <a:ext cx="156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+12%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914400" y="4815840"/>
            <a:ext cx="3164443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1104900" y="4389120"/>
            <a:ext cx="2878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Nova Tech Store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078843" y="4815840"/>
            <a:ext cx="1315164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4193143" y="4389120"/>
            <a:ext cx="101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5394007" y="4815840"/>
            <a:ext cx="2337316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5508307" y="4389120"/>
            <a:ext cx="20325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3,760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7731323" y="4815840"/>
            <a:ext cx="3519249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7921823" y="4453890"/>
            <a:ext cx="1428750" cy="1143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7921823" y="4453890"/>
            <a:ext cx="1257300" cy="114300"/>
          </a:xfrm>
          <a:prstGeom prst="roundRect">
            <a:avLst>
              <a:gd fmla="val 50000" name="adj"/>
            </a:avLst>
          </a:prstGeom>
          <a:solidFill>
            <a:srgbClr val="01B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9483923" y="4400550"/>
            <a:ext cx="481132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88%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1250573" y="4815840"/>
            <a:ext cx="1865352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11364873" y="4389120"/>
            <a:ext cx="156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+8%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914400" y="5440680"/>
            <a:ext cx="3164443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1104900" y="5013960"/>
            <a:ext cx="2878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Pulse Accessories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4078843" y="5440680"/>
            <a:ext cx="1315164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4193143" y="5013960"/>
            <a:ext cx="101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5394007" y="5440680"/>
            <a:ext cx="2337316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5508307" y="5013960"/>
            <a:ext cx="20325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4,120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7731323" y="5440680"/>
            <a:ext cx="3519249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7921823" y="5078730"/>
            <a:ext cx="1428750" cy="1143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7921823" y="5078730"/>
            <a:ext cx="1357313" cy="114300"/>
          </a:xfrm>
          <a:prstGeom prst="roundRect">
            <a:avLst>
              <a:gd fmla="val 50000" name="adj"/>
            </a:avLst>
          </a:prstGeom>
          <a:solidFill>
            <a:srgbClr val="01B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9483923" y="5025390"/>
            <a:ext cx="476012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95%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1250573" y="5440680"/>
            <a:ext cx="1865352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11364873" y="5013960"/>
            <a:ext cx="156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+5%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1104900" y="5638800"/>
            <a:ext cx="2878376" cy="27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Circuit Bazaar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4193143" y="5638800"/>
            <a:ext cx="1010364" cy="27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28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508307" y="5638800"/>
            <a:ext cx="2032516" cy="27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3,980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7921823" y="5703570"/>
            <a:ext cx="1428750" cy="1143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7921823" y="5703570"/>
            <a:ext cx="1128713" cy="114300"/>
          </a:xfrm>
          <a:prstGeom prst="roundRect">
            <a:avLst>
              <a:gd fmla="val 50000" name="adj"/>
            </a:avLst>
          </a:prstGeom>
          <a:solidFill>
            <a:srgbClr val="FFB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9483923" y="5650230"/>
            <a:ext cx="46767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79%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11364873" y="5638800"/>
            <a:ext cx="1560552" cy="27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+14%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1104900" y="6221730"/>
            <a:ext cx="12186571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+37 more tracked competitors — see your Ryvl dashboard for the full list.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13420725" y="2301240"/>
            <a:ext cx="4067175" cy="2032635"/>
          </a:xfrm>
          <a:prstGeom prst="roundRect">
            <a:avLst>
              <a:gd fmla="val 9372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13687425" y="2548890"/>
            <a:ext cx="388715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MOST ACTIVE REPRICER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3687425" y="2827020"/>
            <a:ext cx="38871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Zenith Gadgets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3687425" y="3246120"/>
            <a:ext cx="3639788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548"/>
              </a:lnSpc>
              <a:spcBef>
                <a:spcPts val="0"/>
              </a:spcBef>
              <a:spcAft>
                <a:spcPts val="0"/>
              </a:spcAft>
              <a:buClr>
                <a:srgbClr val="7A5A18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A5A18"/>
                </a:solidFill>
                <a:latin typeface="Inter"/>
                <a:ea typeface="Inter"/>
                <a:cs typeface="Inter"/>
                <a:sym typeface="Inter"/>
              </a:rPr>
              <a:t>Moved price on 27 of 84 tracked SKUs — 2.6× the tracked-set average.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3420725" y="4524375"/>
            <a:ext cx="4067175" cy="2032635"/>
          </a:xfrm>
          <a:prstGeom prst="roundRect">
            <a:avLst>
              <a:gd fmla="val 9372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13687425" y="4772025"/>
            <a:ext cx="388715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875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1875A"/>
                </a:solidFill>
                <a:latin typeface="Inter"/>
                <a:ea typeface="Inter"/>
                <a:cs typeface="Inter"/>
                <a:sym typeface="Inter"/>
              </a:rPr>
              <a:t>SUPPLY VOID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13687425" y="5050155"/>
            <a:ext cx="38871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Volt Traders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13687425" y="5469255"/>
            <a:ext cx="3639788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548"/>
              </a:lnSpc>
              <a:spcBef>
                <a:spcPts val="0"/>
              </a:spcBef>
              <a:spcAft>
                <a:spcPts val="0"/>
              </a:spcAft>
              <a:buClr>
                <a:srgbClr val="0A6A4A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0A6A4A"/>
                </a:solidFill>
                <a:latin typeface="Inter"/>
                <a:ea typeface="Inter"/>
                <a:cs typeface="Inter"/>
                <a:sym typeface="Inter"/>
              </a:rPr>
              <a:t>Out of stock on 45% of their assortment, including 18 SKUs that overlap yours.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13420725" y="6747510"/>
            <a:ext cx="4067175" cy="2472690"/>
          </a:xfrm>
          <a:prstGeom prst="roundRect">
            <a:avLst>
              <a:gd fmla="val 77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13687425" y="6995160"/>
            <a:ext cx="388715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TRACKED-SET MEDIANS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13687425" y="7387590"/>
            <a:ext cx="122979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Median price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16244054" y="7349490"/>
            <a:ext cx="1053346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Rs 3,980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13687425" y="7757160"/>
            <a:ext cx="3533775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3687425" y="7938135"/>
            <a:ext cx="157306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Median in-stock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16699945" y="7900035"/>
            <a:ext cx="597456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88%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13687425" y="8307705"/>
            <a:ext cx="3533775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13687425" y="8488680"/>
            <a:ext cx="164208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Median repricing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16602670" y="8450580"/>
            <a:ext cx="694730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+12%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800100" y="9791700"/>
            <a:ext cx="8847725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Source: Ryvl market scan. Repricing rate is a floor — moves that reverted between scrapes are not observed.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2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17318236" y="434340"/>
            <a:ext cx="245864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SKU Performance &amp; Portfolio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Top 5 products by inventory value share · category mix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800100" y="2301240"/>
            <a:ext cx="11201400" cy="6918960"/>
          </a:xfrm>
          <a:prstGeom prst="roundRect">
            <a:avLst>
              <a:gd fmla="val 2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1104900" y="2567940"/>
            <a:ext cx="11650980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Top products by inventory value share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1104900" y="3855720"/>
            <a:ext cx="49149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1104900" y="3185160"/>
            <a:ext cx="54063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MagSafe Charger 20W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104900" y="3482340"/>
            <a:ext cx="540639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AUR-MSC20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6019800" y="3855720"/>
            <a:ext cx="43053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6324600" y="3369945"/>
            <a:ext cx="4000500" cy="13335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6324600" y="3369945"/>
            <a:ext cx="3840480" cy="133350"/>
          </a:xfrm>
          <a:prstGeom prst="roundRect">
            <a:avLst>
              <a:gd fmla="val 50000" name="adj"/>
            </a:avLst>
          </a:prstGeom>
          <a:solidFill>
            <a:srgbClr val="422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10325100" y="3855720"/>
            <a:ext cx="13716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10477500" y="3185160"/>
            <a:ext cx="1219200" cy="537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24.1%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104900" y="4709160"/>
            <a:ext cx="49149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1104900" y="4038600"/>
            <a:ext cx="54063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Tempered Glass Pro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104900" y="4335780"/>
            <a:ext cx="540639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AUR-TGP01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6019800" y="4709160"/>
            <a:ext cx="43053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6324600" y="4223385"/>
            <a:ext cx="4000500" cy="13335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6324600" y="4223385"/>
            <a:ext cx="3000375" cy="133350"/>
          </a:xfrm>
          <a:prstGeom prst="roundRect">
            <a:avLst>
              <a:gd fmla="val 50000" name="adj"/>
            </a:avLst>
          </a:prstGeom>
          <a:solidFill>
            <a:srgbClr val="5B4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10325100" y="4709160"/>
            <a:ext cx="13716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10477500" y="4034790"/>
            <a:ext cx="1219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18.7%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1104900" y="5562600"/>
            <a:ext cx="49149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1104900" y="4892040"/>
            <a:ext cx="54063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USB-C Cable 2m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1104900" y="5189220"/>
            <a:ext cx="540639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AUR-UCC2M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6019800" y="5562600"/>
            <a:ext cx="43053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6324600" y="5076825"/>
            <a:ext cx="4000500" cy="13335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324600" y="5076825"/>
            <a:ext cx="2440305" cy="133350"/>
          </a:xfrm>
          <a:prstGeom prst="roundRect">
            <a:avLst>
              <a:gd fmla="val 50000" name="adj"/>
            </a:avLst>
          </a:prstGeom>
          <a:solidFill>
            <a:srgbClr val="755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10325100" y="5562600"/>
            <a:ext cx="13716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0477500" y="4888230"/>
            <a:ext cx="1219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15.3%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1104900" y="6416040"/>
            <a:ext cx="49149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104900" y="5745480"/>
            <a:ext cx="54063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Wireless Earbuds X2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1104900" y="6042660"/>
            <a:ext cx="540639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AUR-WEX2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6019800" y="6416040"/>
            <a:ext cx="43053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6324600" y="5930265"/>
            <a:ext cx="4000500" cy="13335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6324600" y="5930265"/>
            <a:ext cx="2040255" cy="133350"/>
          </a:xfrm>
          <a:prstGeom prst="roundRect">
            <a:avLst>
              <a:gd fmla="val 50000" name="adj"/>
            </a:avLst>
          </a:prstGeom>
          <a:solidFill>
            <a:srgbClr val="8E7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10325100" y="6416040"/>
            <a:ext cx="137160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10477500" y="5741670"/>
            <a:ext cx="1219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12.9%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1104900" y="6598920"/>
            <a:ext cx="54063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Car Mount Vent Clip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1104900" y="6896100"/>
            <a:ext cx="540639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AUR-CMVC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324600" y="6783705"/>
            <a:ext cx="4000500" cy="13335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6324600" y="6783705"/>
            <a:ext cx="1480185" cy="133350"/>
          </a:xfrm>
          <a:prstGeom prst="roundRect">
            <a:avLst>
              <a:gd fmla="val 50000" name="adj"/>
            </a:avLst>
          </a:prstGeom>
          <a:solidFill>
            <a:srgbClr val="A99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10477500" y="6595110"/>
            <a:ext cx="1219200" cy="54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9.4%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1104900" y="7425690"/>
            <a:ext cx="116509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Share is measured on inventory value, not recorded sales revenue.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12192000" y="2301240"/>
            <a:ext cx="5295900" cy="5043488"/>
          </a:xfrm>
          <a:prstGeom prst="roundRect">
            <a:avLst>
              <a:gd fmla="val 37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12477750" y="2567940"/>
            <a:ext cx="5196840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Category mix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12477750" y="3070860"/>
            <a:ext cx="9033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Chargers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16776145" y="3070860"/>
            <a:ext cx="50220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38%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12477750" y="3375660"/>
            <a:ext cx="4724400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12477750" y="3375660"/>
            <a:ext cx="4724400" cy="152400"/>
          </a:xfrm>
          <a:prstGeom prst="roundRect">
            <a:avLst>
              <a:gd fmla="val 50000" name="adj"/>
            </a:avLst>
          </a:prstGeom>
          <a:solidFill>
            <a:srgbClr val="422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12477750" y="3737610"/>
            <a:ext cx="15488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Cases &amp; Covers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16790909" y="3737610"/>
            <a:ext cx="48744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27%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12477750" y="4042410"/>
            <a:ext cx="4724400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12477750" y="4042410"/>
            <a:ext cx="3354229" cy="152400"/>
          </a:xfrm>
          <a:prstGeom prst="roundRect">
            <a:avLst>
              <a:gd fmla="val 50000" name="adj"/>
            </a:avLst>
          </a:prstGeom>
          <a:solidFill>
            <a:srgbClr val="6AD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12477750" y="4404360"/>
            <a:ext cx="6019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Audio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16820079" y="4404360"/>
            <a:ext cx="4582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21%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12477750" y="4709160"/>
            <a:ext cx="4724400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12477750" y="4709160"/>
            <a:ext cx="2598420" cy="152400"/>
          </a:xfrm>
          <a:prstGeom prst="roundRect">
            <a:avLst>
              <a:gd fmla="val 50000" name="adj"/>
            </a:avLst>
          </a:prstGeom>
          <a:solidFill>
            <a:srgbClr val="01B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12477750" y="5071110"/>
            <a:ext cx="6948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16811863" y="5071110"/>
            <a:ext cx="4664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14%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12477750" y="5375910"/>
            <a:ext cx="4724400" cy="152400"/>
          </a:xfrm>
          <a:prstGeom prst="roundRect">
            <a:avLst>
              <a:gd fmla="val 5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12477750" y="5375910"/>
            <a:ext cx="1747957" cy="152400"/>
          </a:xfrm>
          <a:prstGeom prst="roundRect">
            <a:avLst>
              <a:gd fmla="val 50000" name="adj"/>
            </a:avLst>
          </a:prstGeom>
          <a:solidFill>
            <a:srgbClr val="FFB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12192000" y="7535228"/>
            <a:ext cx="5295900" cy="1684973"/>
          </a:xfrm>
          <a:prstGeom prst="roundRect">
            <a:avLst>
              <a:gd fmla="val 11306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12477750" y="7782878"/>
            <a:ext cx="519684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CONCENTRATION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12477750" y="8061007"/>
            <a:ext cx="4866132" cy="949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79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Your top two SKUs hold 42.8% of inventory value — both sit in Chargers, your most contested category.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800100" y="9791700"/>
            <a:ext cx="5633490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Source: your store products &amp; inventory, as recorded in your account.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3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1" name="Google Shape;5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3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17356574" y="434340"/>
            <a:ext cx="207526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Inventory &amp; Demand Risk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SKUs below your low-stock threshold · competitor stockouts you can absorb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800100" y="2301240"/>
            <a:ext cx="10142220" cy="6918960"/>
          </a:xfrm>
          <a:prstGeom prst="roundRect">
            <a:avLst>
              <a:gd fmla="val 2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1104900" y="2567940"/>
            <a:ext cx="261649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At risk of stocking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8463677" y="2613660"/>
            <a:ext cx="239122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6 SKUs flagged · 3 shown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1104900" y="3836670"/>
            <a:ext cx="953262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1104900" y="3185160"/>
            <a:ext cx="988219" cy="308610"/>
          </a:xfrm>
          <a:prstGeom prst="roundRect">
            <a:avLst>
              <a:gd fmla="val 30864" name="adj"/>
            </a:avLst>
          </a:prstGeom>
          <a:solidFill>
            <a:srgbClr val="FE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1228725" y="3251835"/>
            <a:ext cx="816769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D5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EE5D50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2321719" y="3084195"/>
            <a:ext cx="79635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Wireless Earbuds X2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2321719" y="3388995"/>
            <a:ext cx="796355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AUR-WEX2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9713714" y="3070860"/>
            <a:ext cx="92380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5D5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EE5D50"/>
                </a:solidFill>
                <a:latin typeface="Inter"/>
                <a:ea typeface="Inter"/>
                <a:cs typeface="Inter"/>
                <a:sym typeface="Inter"/>
              </a:rPr>
              <a:t>6 days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9713714" y="3409950"/>
            <a:ext cx="923806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cover left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1104900" y="4838700"/>
            <a:ext cx="9532620" cy="9525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1104900" y="4187190"/>
            <a:ext cx="830461" cy="308610"/>
          </a:xfrm>
          <a:prstGeom prst="roundRect">
            <a:avLst>
              <a:gd fmla="val 30864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1228725" y="4253865"/>
            <a:ext cx="659011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WATCH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2163961" y="4086225"/>
            <a:ext cx="80778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Fast Charger 30W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2163961" y="4391025"/>
            <a:ext cx="8077891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AUR-FC30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9659898" y="4072890"/>
            <a:ext cx="97762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11 days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9659898" y="4411980"/>
            <a:ext cx="97762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cover left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1104900" y="5189220"/>
            <a:ext cx="830461" cy="308610"/>
          </a:xfrm>
          <a:prstGeom prst="roundRect">
            <a:avLst>
              <a:gd fmla="val 30864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1228725" y="5255895"/>
            <a:ext cx="659011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WATCH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2163961" y="5088255"/>
            <a:ext cx="800598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Aura Screen Protector Matte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2163961" y="5393055"/>
            <a:ext cx="8005989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AUR-SPM1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9594532" y="5074920"/>
            <a:ext cx="104298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14 days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9594532" y="5414010"/>
            <a:ext cx="1042988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cover left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11170920" y="2339340"/>
            <a:ext cx="691438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Supply void opportunities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11132820" y="2804160"/>
            <a:ext cx="6355080" cy="1898333"/>
          </a:xfrm>
          <a:prstGeom prst="roundRect">
            <a:avLst>
              <a:gd fmla="val 100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11132820" y="2804160"/>
            <a:ext cx="76200" cy="1898333"/>
          </a:xfrm>
          <a:prstGeom prst="rect">
            <a:avLst/>
          </a:prstGeom>
          <a:solidFill>
            <a:srgbClr val="01B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11494770" y="3051810"/>
            <a:ext cx="158760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Volt Traders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16705184" y="3112770"/>
            <a:ext cx="573167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Daraz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11494770" y="3444240"/>
            <a:ext cx="5878602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Out of stock on 45% of their assortment — 18 SKUs overlap with yours.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11494770" y="4157663"/>
            <a:ext cx="1972032" cy="297180"/>
          </a:xfrm>
          <a:prstGeom prst="roundRect">
            <a:avLst>
              <a:gd fmla="val 32051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11609070" y="4214813"/>
            <a:ext cx="1819632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875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1875A"/>
                </a:solidFill>
                <a:latin typeface="Inter"/>
                <a:ea typeface="Inter"/>
                <a:cs typeface="Inter"/>
                <a:sym typeface="Inter"/>
              </a:rPr>
              <a:t>Demand you can absorb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11132820" y="4892993"/>
            <a:ext cx="6355080" cy="1898333"/>
          </a:xfrm>
          <a:prstGeom prst="roundRect">
            <a:avLst>
              <a:gd fmla="val 100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11132820" y="4892993"/>
            <a:ext cx="76200" cy="1898333"/>
          </a:xfrm>
          <a:prstGeom prst="rect">
            <a:avLst/>
          </a:prstGeom>
          <a:solidFill>
            <a:srgbClr val="01B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11494770" y="5140643"/>
            <a:ext cx="1825312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Circuit Bazaar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16705184" y="5201603"/>
            <a:ext cx="573167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Daraz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11494770" y="5533073"/>
            <a:ext cx="5878602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Out of stock on 21% of their assortment — 6 SKUs overlap with yours.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11494770" y="6246495"/>
            <a:ext cx="1972032" cy="297180"/>
          </a:xfrm>
          <a:prstGeom prst="roundRect">
            <a:avLst>
              <a:gd fmla="val 32051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3"/>
          <p:cNvSpPr/>
          <p:nvPr/>
        </p:nvSpPr>
        <p:spPr>
          <a:xfrm>
            <a:off x="11609070" y="6303645"/>
            <a:ext cx="1819632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875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1875A"/>
                </a:solidFill>
                <a:latin typeface="Inter"/>
                <a:ea typeface="Inter"/>
                <a:cs typeface="Inter"/>
                <a:sym typeface="Inter"/>
              </a:rPr>
              <a:t>Demand you can absorb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11132820" y="6981825"/>
            <a:ext cx="6355080" cy="2238375"/>
          </a:xfrm>
          <a:prstGeom prst="roundRect">
            <a:avLst>
              <a:gd fmla="val 8511" name="adj"/>
            </a:avLst>
          </a:prstGeom>
          <a:solidFill>
            <a:srgbClr val="4B3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/>
          <p:nvPr/>
        </p:nvSpPr>
        <p:spPr>
          <a:xfrm>
            <a:off x="11418570" y="7464743"/>
            <a:ext cx="6361938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 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11418570" y="7742873"/>
            <a:ext cx="5957088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 of your six at-risk SKUs sit in categories where competitors are already out of stock. Reordering those first protects the opening.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800100" y="9791700"/>
            <a:ext cx="9090672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Source: your store inventory &amp; Ryvl market scan stock status. Days of cover assume the last 30 days’ order rate.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E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4"/>
          <p:cNvSpPr/>
          <p:nvPr/>
        </p:nvSpPr>
        <p:spPr>
          <a:xfrm>
            <a:off x="0" y="0"/>
            <a:ext cx="18288000" cy="1996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0" y="198882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9" name="Google Shape;6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19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4"/>
          <p:cNvSpPr/>
          <p:nvPr/>
        </p:nvSpPr>
        <p:spPr>
          <a:xfrm>
            <a:off x="1123950" y="419100"/>
            <a:ext cx="470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17324189" y="434340"/>
            <a:ext cx="239911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ED0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A3AED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800100" y="838200"/>
            <a:ext cx="1835658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Prioritised Recommendations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800100" y="1443990"/>
            <a:ext cx="183565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Four actions, ordered by what this cycle’s data says will cost you most if ignored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800100" y="2301240"/>
            <a:ext cx="8248650" cy="3185636"/>
          </a:xfrm>
          <a:prstGeom prst="roundRect">
            <a:avLst>
              <a:gd fmla="val 59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800100" y="2301240"/>
            <a:ext cx="8248650" cy="53340"/>
          </a:xfrm>
          <a:prstGeom prst="rect">
            <a:avLst/>
          </a:prstGeom>
          <a:solidFill>
            <a:srgbClr val="EE5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>
            <a:off x="1123950" y="2640330"/>
            <a:ext cx="470654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7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9EDF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8059221" y="2703195"/>
            <a:ext cx="665678" cy="308610"/>
          </a:xfrm>
          <a:prstGeom prst="roundRect">
            <a:avLst>
              <a:gd fmla="val 30864" name="adj"/>
            </a:avLst>
          </a:prstGeom>
          <a:solidFill>
            <a:srgbClr val="FE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8192571" y="2769870"/>
            <a:ext cx="47517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D5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EE5D50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1123950" y="3208020"/>
            <a:ext cx="83610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Reorder the 3 SKUs nearing your low-stock threshold.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1123950" y="3679508"/>
            <a:ext cx="7828979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Earbuds X2 has 6 days of cover at the current order rate, and it is 12.9% of your inventory value.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1123950" y="4995386"/>
            <a:ext cx="7828979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Act this week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9239250" y="2301240"/>
            <a:ext cx="8248650" cy="3185636"/>
          </a:xfrm>
          <a:prstGeom prst="roundRect">
            <a:avLst>
              <a:gd fmla="val 598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9239250" y="2301240"/>
            <a:ext cx="8248650" cy="53340"/>
          </a:xfrm>
          <a:prstGeom prst="rect">
            <a:avLst/>
          </a:prstGeom>
          <a:solidFill>
            <a:srgbClr val="EE5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9563100" y="2640330"/>
            <a:ext cx="542568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7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9EDF7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16498372" y="2703195"/>
            <a:ext cx="665678" cy="308610"/>
          </a:xfrm>
          <a:prstGeom prst="roundRect">
            <a:avLst>
              <a:gd fmla="val 30864" name="adj"/>
            </a:avLst>
          </a:prstGeom>
          <a:solidFill>
            <a:srgbClr val="FE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16631722" y="2769870"/>
            <a:ext cx="47517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D5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EE5D50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9563100" y="3208020"/>
            <a:ext cx="83610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Review pricing against Zenith Gadgets.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9563100" y="3679508"/>
            <a:ext cx="7828979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They repriced 32% of tracked SKUs this cycle while your premium sits at +6.3% over the median.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9563100" y="4995386"/>
            <a:ext cx="7828979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Act this week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800100" y="5677376"/>
            <a:ext cx="8248650" cy="3542824"/>
          </a:xfrm>
          <a:prstGeom prst="roundRect">
            <a:avLst>
              <a:gd fmla="val 53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800100" y="5677376"/>
            <a:ext cx="8248650" cy="533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4"/>
          <p:cNvSpPr/>
          <p:nvPr/>
        </p:nvSpPr>
        <p:spPr>
          <a:xfrm>
            <a:off x="1123950" y="6016466"/>
            <a:ext cx="548283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7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9EDF7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7800142" y="6079331"/>
            <a:ext cx="924758" cy="308610"/>
          </a:xfrm>
          <a:prstGeom prst="roundRect">
            <a:avLst>
              <a:gd fmla="val 30864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7933492" y="6146006"/>
            <a:ext cx="7342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1123950" y="6584156"/>
            <a:ext cx="83610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Stock up where Volt Traders has gone out of stock.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1123950" y="7055644"/>
            <a:ext cx="8361045" cy="3281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18 of their out-of-stock SKUs overlap your catalogue, mostly in Chargers.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1123950" y="8728710"/>
            <a:ext cx="7828979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Next 30 days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9239250" y="5677376"/>
            <a:ext cx="8248650" cy="3542824"/>
          </a:xfrm>
          <a:prstGeom prst="roundRect">
            <a:avLst>
              <a:gd fmla="val 53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9239250" y="5677376"/>
            <a:ext cx="8248650" cy="533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4"/>
          <p:cNvSpPr/>
          <p:nvPr/>
        </p:nvSpPr>
        <p:spPr>
          <a:xfrm>
            <a:off x="9563100" y="6016466"/>
            <a:ext cx="559356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7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9EDF7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16239291" y="6079331"/>
            <a:ext cx="924758" cy="308610"/>
          </a:xfrm>
          <a:prstGeom prst="roundRect">
            <a:avLst>
              <a:gd fmla="val 30864" name="adj"/>
            </a:avLst>
          </a:prstGeom>
          <a:solidFill>
            <a:srgbClr val="FFF6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4"/>
          <p:cNvSpPr/>
          <p:nvPr/>
        </p:nvSpPr>
        <p:spPr>
          <a:xfrm>
            <a:off x="16372641" y="6146006"/>
            <a:ext cx="73425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7610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B37610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9563100" y="6584156"/>
            <a:ext cx="782897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Re-check your band against the category’s typical range.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9563100" y="7412831"/>
            <a:ext cx="7828979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You sit at the 82nd percentile — inside the recommended Rs 3,700–4,300 band, but near its ceiling.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9563100" y="8728710"/>
            <a:ext cx="7828979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Next 30 days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0" y="9486900"/>
            <a:ext cx="182880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4"/>
          <p:cNvSpPr/>
          <p:nvPr/>
        </p:nvSpPr>
        <p:spPr>
          <a:xfrm>
            <a:off x="800100" y="9791700"/>
            <a:ext cx="8202311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Recommendations are generated from this cycle’s tracked signals only — no forecasts or projections.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16190119" y="9723120"/>
            <a:ext cx="1297781" cy="335280"/>
          </a:xfrm>
          <a:prstGeom prst="roundRect">
            <a:avLst>
              <a:gd fmla="val 50000" name="adj"/>
            </a:avLst>
          </a:prstGeom>
          <a:solidFill>
            <a:srgbClr val="F2E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4"/>
          <p:cNvSpPr/>
          <p:nvPr/>
        </p:nvSpPr>
        <p:spPr>
          <a:xfrm>
            <a:off x="16399669" y="9799320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3AF0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7" name="Google Shape;6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60960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5"/>
          <p:cNvSpPr/>
          <p:nvPr/>
        </p:nvSpPr>
        <p:spPr>
          <a:xfrm>
            <a:off x="1238250" y="622935"/>
            <a:ext cx="59269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16236078" y="672465"/>
            <a:ext cx="1377005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08 of 08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"/>
          <p:cNvSpPr/>
          <p:nvPr/>
        </p:nvSpPr>
        <p:spPr>
          <a:xfrm>
            <a:off x="800100" y="1543050"/>
            <a:ext cx="1835658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800100" y="1878330"/>
            <a:ext cx="18356580" cy="7043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4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Inter"/>
              <a:buNone/>
            </a:pPr>
            <a:r>
              <a:rPr b="1" i="0" lang="en-US" sz="4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Methodology, Privacy &amp; Data Sources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800100" y="3078004"/>
            <a:ext cx="5410200" cy="5902166"/>
          </a:xfrm>
          <a:prstGeom prst="roundRect">
            <a:avLst>
              <a:gd fmla="val 3521" name="adj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1123950" y="3382804"/>
            <a:ext cx="523875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1123950" y="3794284"/>
            <a:ext cx="5238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store 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1123950" y="4167664"/>
            <a:ext cx="4905375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Orders, products and customers from your own account.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1123950" y="4976336"/>
            <a:ext cx="4762500" cy="9525"/>
          </a:xfrm>
          <a:prstGeom prst="rect">
            <a:avLst/>
          </a:prstGeom>
          <a:solidFill>
            <a:srgbClr val="FFFFFF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1123950" y="5214461"/>
            <a:ext cx="5238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Ryvl market scan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1123950" y="5587841"/>
            <a:ext cx="4905375" cy="618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Inter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Publicly listed prices and stock status scraped from tracked retailer marketplaces.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5"/>
          <p:cNvSpPr/>
          <p:nvPr/>
        </p:nvSpPr>
        <p:spPr>
          <a:xfrm>
            <a:off x="6438900" y="3078004"/>
            <a:ext cx="5410200" cy="5902166"/>
          </a:xfrm>
          <a:prstGeom prst="roundRect">
            <a:avLst>
              <a:gd fmla="val 3521" name="adj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6762750" y="3382804"/>
            <a:ext cx="523875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6762750" y="3794284"/>
            <a:ext cx="49053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3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Repricing rate is a floor, not exhaustive — price moves that reverted between scheduled scrapes are not observed.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6762750" y="4965859"/>
            <a:ext cx="4762500" cy="9525"/>
          </a:xfrm>
          <a:prstGeom prst="rect">
            <a:avLst/>
          </a:prstGeom>
          <a:solidFill>
            <a:srgbClr val="FFFFFF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6762750" y="5203984"/>
            <a:ext cx="49053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3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Product and portfolio contribution is based on inventory value, not recorded sales revenue.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5"/>
          <p:cNvSpPr/>
          <p:nvPr/>
        </p:nvSpPr>
        <p:spPr>
          <a:xfrm>
            <a:off x="12077700" y="3078004"/>
            <a:ext cx="5410200" cy="5902166"/>
          </a:xfrm>
          <a:prstGeom prst="roundRect">
            <a:avLst>
              <a:gd fmla="val 35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12401550" y="3382804"/>
            <a:ext cx="5238750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REPORT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12401550" y="3775234"/>
            <a:ext cx="1103828" cy="358140"/>
          </a:xfrm>
          <a:prstGeom prst="roundRect">
            <a:avLst>
              <a:gd fmla="val 26596" name="adj"/>
            </a:avLst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12553950" y="3851434"/>
            <a:ext cx="875228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875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1875A"/>
                </a:solidFill>
                <a:latin typeface="Inter"/>
                <a:ea typeface="Inter"/>
                <a:cs typeface="Inter"/>
                <a:sym typeface="Inter"/>
              </a:rPr>
              <a:t>Approved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12401550" y="4304824"/>
            <a:ext cx="5238750" cy="3419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79"/>
              </a:lnSpc>
              <a:spcBef>
                <a:spcPts val="0"/>
              </a:spcBef>
              <a:spcAft>
                <a:spcPts val="0"/>
              </a:spcAft>
              <a:buClr>
                <a:srgbClr val="1B2559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B2559"/>
                </a:solidFill>
                <a:latin typeface="Inter"/>
                <a:ea typeface="Inter"/>
                <a:cs typeface="Inter"/>
                <a:sym typeface="Inter"/>
              </a:rPr>
              <a:t>Reviewed by staff@ryvl.com before release.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12401550" y="4837271"/>
            <a:ext cx="4762500" cy="9525"/>
          </a:xfrm>
          <a:prstGeom prst="rect">
            <a:avLst/>
          </a:prstGeom>
          <a:solidFill>
            <a:srgbClr val="E9ED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12401550" y="507539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07EA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707EAE"/>
                </a:solidFill>
                <a:latin typeface="Inter"/>
                <a:ea typeface="Inter"/>
                <a:cs typeface="Inter"/>
                <a:sym typeface="Inter"/>
              </a:rPr>
              <a:t>Report ref 7F3A1C9D · generated 4 Aug 2026 for the last 30 days.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12401550" y="8446770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2A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422AFB"/>
                </a:solidFill>
                <a:latin typeface="Inter"/>
                <a:ea typeface="Inter"/>
                <a:cs typeface="Inter"/>
                <a:sym typeface="Inter"/>
              </a:rPr>
              <a:t>End of report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800100" y="9477375"/>
            <a:ext cx="7750731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Inter"/>
              <a:buNone/>
            </a:pPr>
            <a:r>
              <a:rPr b="0" i="1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figure in this report traces to a tracked measurement — nothing is estimated or projected.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16190119" y="9399270"/>
            <a:ext cx="1297781" cy="35433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16399669" y="9484995"/>
            <a:ext cx="95488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AF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3AF0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