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22A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25th pct</c:v>
                  </c:pt>
                  <c:pt idx="1">
                    <c:v>You</c:v>
                  </c:pt>
                  <c:pt idx="2">
                    <c:v>75th pct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58</c:v>
                </c:pt>
                <c:pt idx="2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EAE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D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EAE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median</c:v>
                </c:pt>
              </c:strCache>
            </c:strRef>
          </c:tx>
          <c:spPr>
            <a:solidFill>
              <a:srgbClr val="422AFB"/>
            </a:solidFill>
            <a:ln w="38100" cap="flat">
              <a:solidFill>
                <a:srgbClr val="422AF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22AFB"/>
              </a:solidFill>
              <a:ln w="9525" cap="flat">
                <a:solidFill>
                  <a:srgbClr val="422AF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29 Jul 2026</c:v>
                  </c:pt>
                  <c:pt idx="1">
                    <c:v>31 Jul 2026</c:v>
                  </c:pt>
                  <c:pt idx="2">
                    <c:v>1 Aug 2026</c:v>
                  </c:pt>
                  <c:pt idx="3">
                    <c:v>3 Aug 2026</c:v>
                  </c:pt>
                  <c:pt idx="4">
                    <c:v>5 Aug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36999</c:v>
                </c:pt>
                <c:pt idx="1">
                  <c:v>36163</c:v>
                </c:pt>
                <c:pt idx="2">
                  <c:v>32849</c:v>
                </c:pt>
                <c:pt idx="3">
                  <c:v>5999</c:v>
                </c:pt>
                <c:pt idx="4">
                  <c:v>10345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07EAE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D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EAE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40005" cy="10287000"/>
          </a:xfrm>
          <a:prstGeom prst="rect">
            <a:avLst/>
          </a:prstGeom>
          <a:solidFill>
            <a:srgbClr val="4B3AF0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609905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0100" y="2377440"/>
            <a:ext cx="1123980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MARKET INTELLIGENCE  ·  PERIODIC BRIEFING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0100" y="2926080"/>
            <a:ext cx="1123980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</a:t>
            </a:r>
            <a:endParaRPr lang="en-US" sz="6450" dirty="0"/>
          </a:p>
        </p:txBody>
      </p:sp>
      <p:sp>
        <p:nvSpPr>
          <p:cNvPr id="6" name="Text 4"/>
          <p:cNvSpPr/>
          <p:nvPr/>
        </p:nvSpPr>
        <p:spPr>
          <a:xfrm>
            <a:off x="800100" y="4709160"/>
            <a:ext cx="11239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25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intelligence for Mobiles &amp; Electronics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12398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30 days   ·   Generated 6 Aug 2026   ·   Ref: 1CB881BD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0100" y="7772400"/>
            <a:ext cx="11239805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8138160"/>
            <a:ext cx="35698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412480"/>
            <a:ext cx="35698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1,500,450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00100" y="9006840"/>
            <a:ext cx="356981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prior-period baseline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5094" y="8138160"/>
            <a:ext cx="35698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5094" y="8412480"/>
            <a:ext cx="35698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635094" y="9006840"/>
            <a:ext cx="356981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prior-period baseline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70087" y="8138160"/>
            <a:ext cx="35698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 TRACKED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70087" y="8412480"/>
            <a:ext cx="35698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3525805" y="2926080"/>
            <a:ext cx="4076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25805" y="3246120"/>
            <a:ext cx="40763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525805" y="4297680"/>
            <a:ext cx="4076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PERIOD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525805" y="4617720"/>
            <a:ext cx="4076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30 days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22" name="Text 20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in this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10 sections have enough tracked data this cycle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8078724" cy="3717036"/>
          </a:xfrm>
          <a:prstGeom prst="roundRect">
            <a:avLst>
              <a:gd name="adj" fmla="val 29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8" y="27523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51660" y="2715768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Snapshot &amp; Key Signals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58584" y="2752344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12" name="Text 10"/>
          <p:cNvSpPr/>
          <p:nvPr/>
        </p:nvSpPr>
        <p:spPr>
          <a:xfrm>
            <a:off x="6958584" y="2752344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4148" y="3203143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4148" y="3358591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51660" y="3322015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Position &amp; Benchmark Percentiles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58584" y="3358591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17" name="Text 15"/>
          <p:cNvSpPr/>
          <p:nvPr/>
        </p:nvSpPr>
        <p:spPr>
          <a:xfrm>
            <a:off x="6958584" y="3358591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4148" y="3809390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19" name="Text 17"/>
          <p:cNvSpPr/>
          <p:nvPr/>
        </p:nvSpPr>
        <p:spPr>
          <a:xfrm>
            <a:off x="1184148" y="396483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51660" y="3928262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Intelligence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58584" y="3964838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22" name="Text 20"/>
          <p:cNvSpPr/>
          <p:nvPr/>
        </p:nvSpPr>
        <p:spPr>
          <a:xfrm>
            <a:off x="6958584" y="3964838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4148" y="4415638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4" name="Text 22"/>
          <p:cNvSpPr/>
          <p:nvPr/>
        </p:nvSpPr>
        <p:spPr>
          <a:xfrm>
            <a:off x="1184148" y="457108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851660" y="4534510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&amp; Competitor Tracking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58584" y="4571086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58584" y="4571086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84148" y="5021885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9" name="Text 27"/>
          <p:cNvSpPr/>
          <p:nvPr/>
        </p:nvSpPr>
        <p:spPr>
          <a:xfrm>
            <a:off x="1184148" y="5177333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851660" y="5140757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Performance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58584" y="5177333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32" name="Text 30"/>
          <p:cNvSpPr/>
          <p:nvPr/>
        </p:nvSpPr>
        <p:spPr>
          <a:xfrm>
            <a:off x="6958584" y="5177333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09176" y="2331720"/>
            <a:ext cx="8078724" cy="3717036"/>
          </a:xfrm>
          <a:prstGeom prst="roundRect">
            <a:avLst>
              <a:gd name="adj" fmla="val 295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793224" y="27523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460736" y="2715768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Portfolio Contribution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567660" y="2752344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37" name="Text 35"/>
          <p:cNvSpPr/>
          <p:nvPr/>
        </p:nvSpPr>
        <p:spPr>
          <a:xfrm>
            <a:off x="15567660" y="2752344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793224" y="3203143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39" name="Text 37"/>
          <p:cNvSpPr/>
          <p:nvPr/>
        </p:nvSpPr>
        <p:spPr>
          <a:xfrm>
            <a:off x="9793224" y="3358591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C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460736" y="3322015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&amp; Demand Risk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567660" y="3358591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F4F7FE"/>
          </a:solidFill>
          <a:ln/>
        </p:spPr>
      </p:sp>
      <p:sp>
        <p:nvSpPr>
          <p:cNvPr id="42" name="Text 40"/>
          <p:cNvSpPr/>
          <p:nvPr/>
        </p:nvSpPr>
        <p:spPr>
          <a:xfrm>
            <a:off x="15567660" y="3358591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Omitted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793224" y="3809390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44" name="Text 42"/>
          <p:cNvSpPr/>
          <p:nvPr/>
        </p:nvSpPr>
        <p:spPr>
          <a:xfrm>
            <a:off x="9793224" y="396483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60736" y="3928262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Health &amp; Retention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567660" y="3964838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47" name="Text 45"/>
          <p:cNvSpPr/>
          <p:nvPr/>
        </p:nvSpPr>
        <p:spPr>
          <a:xfrm>
            <a:off x="15567660" y="3964838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793224" y="4415638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49" name="Text 47"/>
          <p:cNvSpPr/>
          <p:nvPr/>
        </p:nvSpPr>
        <p:spPr>
          <a:xfrm>
            <a:off x="9793224" y="457108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0460736" y="4534510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Prioritised Recommendations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567660" y="4571086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E6FAF5"/>
          </a:solidFill>
          <a:ln/>
        </p:spPr>
      </p:sp>
      <p:sp>
        <p:nvSpPr>
          <p:cNvPr id="52" name="Text 50"/>
          <p:cNvSpPr/>
          <p:nvPr/>
        </p:nvSpPr>
        <p:spPr>
          <a:xfrm>
            <a:off x="15567660" y="4571086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B5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793224" y="5021885"/>
            <a:ext cx="7310628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54" name="Text 52"/>
          <p:cNvSpPr/>
          <p:nvPr/>
        </p:nvSpPr>
        <p:spPr>
          <a:xfrm>
            <a:off x="9793224" y="5177333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C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0460736" y="5140757"/>
            <a:ext cx="4786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Action Roadmap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567660" y="5177333"/>
            <a:ext cx="1536192" cy="270662"/>
          </a:xfrm>
          <a:prstGeom prst="roundRect">
            <a:avLst>
              <a:gd name="adj" fmla="val 114865"/>
            </a:avLst>
          </a:prstGeom>
          <a:solidFill>
            <a:srgbClr val="F4F7FE"/>
          </a:solidFill>
          <a:ln/>
        </p:spPr>
      </p:sp>
      <p:sp>
        <p:nvSpPr>
          <p:cNvPr id="57" name="Text 55"/>
          <p:cNvSpPr/>
          <p:nvPr/>
        </p:nvSpPr>
        <p:spPr>
          <a:xfrm>
            <a:off x="15567660" y="5177333"/>
            <a:ext cx="1536192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Omitted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00100" y="6414516"/>
            <a:ext cx="16687800" cy="1371600"/>
          </a:xfrm>
          <a:prstGeom prst="roundRect">
            <a:avLst>
              <a:gd name="adj" fmla="val 800"/>
            </a:avLst>
          </a:prstGeom>
          <a:solidFill>
            <a:srgbClr val="F2E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184148" y="6679692"/>
            <a:ext cx="15919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22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THIS REPORT IS BUILT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184148" y="7018020"/>
            <a:ext cx="15919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 appear only when the underlying data supports them. Anything marked "not enough data" was considered and left out rather than shown with a misleading zero - the methodology page lists every source and limitation behind the numbers here.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63" name="Text 61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64" name="Shape 62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65" name="Text 63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B3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90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44700" y="6720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 of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FFFFFF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800100" y="3749040"/>
            <a:ext cx="1668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4114800"/>
            <a:ext cx="12015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Snapshot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03464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headline numbers for this period, and what moved them.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" y="7498080"/>
            <a:ext cx="1668780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7882128"/>
            <a:ext cx="1632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THIS PERIOD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183880"/>
            <a:ext cx="1632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Snapshot &amp; Key Signals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 · Last 30 days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01852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1852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1,500,450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101852" y="3557016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prior-period baseline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51092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52844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52844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752844" y="3557016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prior-period baseline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102084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403836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INDEX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403836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306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2403836" y="3557016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= at market median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0100" y="4389120"/>
            <a:ext cx="16687800" cy="4732020"/>
          </a:xfrm>
          <a:prstGeom prst="roundRect">
            <a:avLst>
              <a:gd name="adj" fmla="val 232"/>
            </a:avLst>
          </a:prstGeom>
          <a:solidFill>
            <a:srgbClr val="F2E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4148" y="4654296"/>
            <a:ext cx="15919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22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4148" y="4992624"/>
            <a:ext cx="15919704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report summarizes recent performance, market position, and customer retention from the seller's own data and tracked marketplace signals.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27" name="Text 25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B3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90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44700" y="6720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 of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FFFFFF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800100" y="3749040"/>
            <a:ext cx="1668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4114800"/>
            <a:ext cx="12015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Position &amp; Pricing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03464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your pricing sits against the tracked market, and the band the data supports.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" y="7498080"/>
            <a:ext cx="1668780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7882128"/>
            <a:ext cx="7978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INDEX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183880"/>
            <a:ext cx="7978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0" y="7882128"/>
            <a:ext cx="7978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TRACKED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8183880"/>
            <a:ext cx="7978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4" name="Text 12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Position &amp; Benchmark Percentiles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across Daraz, Goto.com.pk, iShopping.pk, Mega.pk, Naheed.pk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01852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INDEX VS.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1852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306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101852" y="3557016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= at market median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51092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52844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PERCENTILE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52844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58th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752844" y="3557016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tracked price range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102084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403836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 IN 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403836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800100" y="4389120"/>
            <a:ext cx="16687800" cy="4732020"/>
          </a:xfrm>
          <a:prstGeom prst="roundRect">
            <a:avLst>
              <a:gd name="adj" fmla="val 23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84148" y="4718304"/>
            <a:ext cx="15919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your price sits in the tracked market</a:t>
            </a:r>
            <a:endParaRPr lang="en-US" sz="1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1184148" y="5303520"/>
          <a:ext cx="15919704" cy="33604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24" name="Text 21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26" name="Text 23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Intelligence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price against the tracked market median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01852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1852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45,927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6451092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52844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MEDIAN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52844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14,999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2102084" y="2331720"/>
            <a:ext cx="5385816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403836" y="2596896"/>
            <a:ext cx="4782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BAND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03836" y="2935224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3,699 – Rs 110,000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800100" y="4389120"/>
            <a:ext cx="16687800" cy="4732020"/>
          </a:xfrm>
          <a:prstGeom prst="roundRect">
            <a:avLst>
              <a:gd name="adj" fmla="val 23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4148" y="4718304"/>
            <a:ext cx="15919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median price over time</a:t>
            </a:r>
            <a:endParaRPr lang="en-US" sz="1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1184148" y="5303520"/>
          <a:ext cx="15919704" cy="33604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22" name="Text 19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24" name="Text 21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B3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90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44700" y="6720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 of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FFFFFF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800100" y="3749040"/>
            <a:ext cx="1668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4114800"/>
            <a:ext cx="12015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&amp; Competitor Tracking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03464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moved on price, who ran out of stock, and where that leaves you.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" y="7498080"/>
            <a:ext cx="1668780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7882128"/>
            <a:ext cx="1632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 TRACKED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183880"/>
            <a:ext cx="1632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&amp; Competitor Tracking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 · 130 identified SKUs, 3179 unattributed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16687800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8" y="2788920"/>
            <a:ext cx="4672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6732" y="278892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26780" y="278892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29316" y="278892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99364" y="2788920"/>
            <a:ext cx="21694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STOCK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8778" y="2788920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REPRICING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4148" y="3172968"/>
            <a:ext cx="15919704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16" name="Text 14"/>
          <p:cNvSpPr/>
          <p:nvPr/>
        </p:nvSpPr>
        <p:spPr>
          <a:xfrm>
            <a:off x="1184148" y="3355848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Usama Mobile Shop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856732" y="33558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26780" y="3355848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529316" y="33558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686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199364" y="3355848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5368778" y="3355848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84148" y="3977640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4148" y="4142232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Shehzad Electronics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856732" y="414223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526780" y="4142232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529316" y="414223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329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199364" y="4142232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5368778" y="4142232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84148" y="4764024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30" name="Text 28"/>
          <p:cNvSpPr/>
          <p:nvPr/>
        </p:nvSpPr>
        <p:spPr>
          <a:xfrm>
            <a:off x="1184148" y="4928616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ABDUL ELECTRONICS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856732" y="4928616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526780" y="4928616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529316" y="4928616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70,270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199364" y="4928616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5368778" y="4928616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84148" y="5550408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37" name="Text 35"/>
          <p:cNvSpPr/>
          <p:nvPr/>
        </p:nvSpPr>
        <p:spPr>
          <a:xfrm>
            <a:off x="1184148" y="57150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 Distributor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856732" y="571500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526780" y="57150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529316" y="571500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10,500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3199364" y="5715000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5368778" y="5715000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184148" y="6336792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44" name="Text 42"/>
          <p:cNvSpPr/>
          <p:nvPr/>
        </p:nvSpPr>
        <p:spPr>
          <a:xfrm>
            <a:off x="1184148" y="6501384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YY Electronics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5856732" y="6501384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526780" y="6501384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529316" y="6501384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11,650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199364" y="6501384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5368778" y="6501384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84148" y="8554212"/>
            <a:ext cx="15919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marketplace signals only. Private seller data is never shown.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53" name="Text 51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55" name="Text 53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&amp; Competitor Tracking (continued)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 · 130 identified SKUs, 3179 unattributed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16687800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8" y="2788920"/>
            <a:ext cx="4672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6732" y="278892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26780" y="278892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29316" y="278892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99364" y="2788920"/>
            <a:ext cx="21694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STOCK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8778" y="2788920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REPRICING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4148" y="3172968"/>
            <a:ext cx="15919704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16" name="Text 14"/>
          <p:cNvSpPr/>
          <p:nvPr/>
        </p:nvSpPr>
        <p:spPr>
          <a:xfrm>
            <a:off x="1184148" y="3355848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Electrotech (Lahore).Selection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856732" y="33558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26780" y="3355848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529316" y="33558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619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199364" y="3355848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5368778" y="3355848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84148" y="3977640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4148" y="4142232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 Market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856732" y="414223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526780" y="4142232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529316" y="414223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15,999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199364" y="4142232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5368778" y="4142232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84148" y="4764024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30" name="Text 28"/>
          <p:cNvSpPr/>
          <p:nvPr/>
        </p:nvSpPr>
        <p:spPr>
          <a:xfrm>
            <a:off x="1184148" y="4928616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E-Laptech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856732" y="4928616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526780" y="4928616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529316" y="4928616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59,500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199364" y="4928616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5368778" y="4928616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84148" y="5550408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37" name="Text 35"/>
          <p:cNvSpPr/>
          <p:nvPr/>
        </p:nvSpPr>
        <p:spPr>
          <a:xfrm>
            <a:off x="1184148" y="571500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Arena Tech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856732" y="571500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526780" y="57150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529316" y="571500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74,999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3199364" y="5715000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5368778" y="5715000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184148" y="6336792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44" name="Text 42"/>
          <p:cNvSpPr/>
          <p:nvPr/>
        </p:nvSpPr>
        <p:spPr>
          <a:xfrm>
            <a:off x="1184148" y="6501384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Al-Aswad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5856732" y="6501384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526780" y="6501384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529316" y="6501384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136,751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199364" y="6501384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5368778" y="6501384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184148" y="8554212"/>
            <a:ext cx="15919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marketplace signals only. Private seller data is never shown.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53" name="Text 51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55" name="Text 53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&amp; Competitor Tracking (continued)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 · 130 identified SKUs, 3179 unattributed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16687800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8" y="2788920"/>
            <a:ext cx="4672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6732" y="278892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26780" y="278892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29316" y="278892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99364" y="2788920"/>
            <a:ext cx="21694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STOCK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8778" y="2788920"/>
            <a:ext cx="25031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10" kern="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REPRICING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4148" y="3172968"/>
            <a:ext cx="15919704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16" name="Text 14"/>
          <p:cNvSpPr/>
          <p:nvPr/>
        </p:nvSpPr>
        <p:spPr>
          <a:xfrm>
            <a:off x="1184148" y="3355848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 Flagship Store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856732" y="33558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26780" y="3355848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529316" y="33558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47,499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199364" y="3355848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5368778" y="3355848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84148" y="3977640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4148" y="4142232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Smart Communication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856732" y="414223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526780" y="4142232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529316" y="414223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2,299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199364" y="4142232"/>
            <a:ext cx="21694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5368778" y="4142232"/>
            <a:ext cx="25031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84148" y="8554212"/>
            <a:ext cx="15919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marketplace signals only. Private seller data is never shown.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34" name="Text 32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B3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90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44700" y="6720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 of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FFFFFF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800100" y="3749040"/>
            <a:ext cx="1668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4114800"/>
            <a:ext cx="12015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Catalogue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03464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contribution, portfolio mix, and the SKUs at risk of stocking out.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" y="7498080"/>
            <a:ext cx="1668780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7882128"/>
            <a:ext cx="1632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PRODUCTS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183880"/>
            <a:ext cx="1632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Performance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inventory value share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16687800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8" y="2660904"/>
            <a:ext cx="15919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inventory value share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84148" y="3291840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1600 cc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84148" y="3566160"/>
            <a:ext cx="1390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84148" y="3895344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4148" y="3895344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422AFB"/>
          </a:solidFill>
          <a:ln/>
        </p:spPr>
      </p:sp>
      <p:sp>
        <p:nvSpPr>
          <p:cNvPr id="14" name="Text 12"/>
          <p:cNvSpPr/>
          <p:nvPr/>
        </p:nvSpPr>
        <p:spPr>
          <a:xfrm>
            <a:off x="15183612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87.0%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84148" y="4279392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4148" y="4425696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84148" y="4700016"/>
            <a:ext cx="1390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84148" y="5029200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4148" y="5029200"/>
            <a:ext cx="1052823" cy="133502"/>
          </a:xfrm>
          <a:prstGeom prst="roundRect">
            <a:avLst>
              <a:gd name="adj" fmla="val 342467"/>
            </a:avLst>
          </a:prstGeom>
          <a:solidFill>
            <a:srgbClr val="5B45FF"/>
          </a:solidFill>
          <a:ln/>
        </p:spPr>
      </p:sp>
      <p:sp>
        <p:nvSpPr>
          <p:cNvPr id="20" name="Text 18"/>
          <p:cNvSpPr/>
          <p:nvPr/>
        </p:nvSpPr>
        <p:spPr>
          <a:xfrm>
            <a:off x="15183612" y="45171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9.3%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84148" y="5413248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2" name="Text 20"/>
          <p:cNvSpPr/>
          <p:nvPr/>
        </p:nvSpPr>
        <p:spPr>
          <a:xfrm>
            <a:off x="1184148" y="5559552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4070 Ti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84148" y="5833872"/>
            <a:ext cx="1390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84148" y="6163056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4148" y="6163056"/>
            <a:ext cx="399129" cy="133502"/>
          </a:xfrm>
          <a:prstGeom prst="roundRect">
            <a:avLst>
              <a:gd name="adj" fmla="val 342467"/>
            </a:avLst>
          </a:prstGeom>
          <a:solidFill>
            <a:srgbClr val="7551FF"/>
          </a:solidFill>
          <a:ln/>
        </p:spPr>
      </p:sp>
      <p:sp>
        <p:nvSpPr>
          <p:cNvPr id="26" name="Text 24"/>
          <p:cNvSpPr/>
          <p:nvPr/>
        </p:nvSpPr>
        <p:spPr>
          <a:xfrm>
            <a:off x="15183612" y="5650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84148" y="6547104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8" name="Text 26"/>
          <p:cNvSpPr/>
          <p:nvPr/>
        </p:nvSpPr>
        <p:spPr>
          <a:xfrm>
            <a:off x="1184148" y="6693408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Pepso 1 LTR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84148" y="6967728"/>
            <a:ext cx="1390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184148" y="7296912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31" name="Shape 29"/>
          <p:cNvSpPr/>
          <p:nvPr/>
        </p:nvSpPr>
        <p:spPr>
          <a:xfrm>
            <a:off x="1184148" y="7296912"/>
            <a:ext cx="36576" cy="133502"/>
          </a:xfrm>
          <a:prstGeom prst="roundRect">
            <a:avLst>
              <a:gd name="adj" fmla="val 1250000"/>
            </a:avLst>
          </a:prstGeom>
          <a:solidFill>
            <a:srgbClr val="8E74FF"/>
          </a:solidFill>
          <a:ln/>
        </p:spPr>
      </p:sp>
      <p:sp>
        <p:nvSpPr>
          <p:cNvPr id="32" name="Text 30"/>
          <p:cNvSpPr/>
          <p:nvPr/>
        </p:nvSpPr>
        <p:spPr>
          <a:xfrm>
            <a:off x="15183612" y="6784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84148" y="7680960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34" name="Text 32"/>
          <p:cNvSpPr/>
          <p:nvPr/>
        </p:nvSpPr>
        <p:spPr>
          <a:xfrm>
            <a:off x="1184148" y="7827264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Injectors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84148" y="8101584"/>
            <a:ext cx="13908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184148" y="8430768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37" name="Shape 35"/>
          <p:cNvSpPr/>
          <p:nvPr/>
        </p:nvSpPr>
        <p:spPr>
          <a:xfrm>
            <a:off x="1184148" y="8430768"/>
            <a:ext cx="36576" cy="133502"/>
          </a:xfrm>
          <a:prstGeom prst="roundRect">
            <a:avLst>
              <a:gd name="adj" fmla="val 1250000"/>
            </a:avLst>
          </a:prstGeom>
          <a:solidFill>
            <a:srgbClr val="A995FF"/>
          </a:solidFill>
          <a:ln/>
        </p:spPr>
      </p:sp>
      <p:sp>
        <p:nvSpPr>
          <p:cNvPr id="38" name="Text 36"/>
          <p:cNvSpPr/>
          <p:nvPr/>
        </p:nvSpPr>
        <p:spPr>
          <a:xfrm>
            <a:off x="15183612" y="79187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43" name="Text 41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Portfolio Contribution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mix by inventory value (per-sale line items are not tracked yet)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16687800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8" y="2660904"/>
            <a:ext cx="15919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share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84148" y="3291840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Automotive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84148" y="3657600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4148" y="3657600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422AFB"/>
          </a:solidFill>
          <a:ln/>
        </p:spPr>
      </p:sp>
      <p:sp>
        <p:nvSpPr>
          <p:cNvPr id="13" name="Text 11"/>
          <p:cNvSpPr/>
          <p:nvPr/>
        </p:nvSpPr>
        <p:spPr>
          <a:xfrm>
            <a:off x="15183612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87.0%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84148" y="4114800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4148" y="4261104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Mobiles &amp; Electronics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84148" y="4626864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4148" y="4626864"/>
            <a:ext cx="1052004" cy="133502"/>
          </a:xfrm>
          <a:prstGeom prst="roundRect">
            <a:avLst>
              <a:gd name="adj" fmla="val 342467"/>
            </a:avLst>
          </a:prstGeom>
          <a:solidFill>
            <a:srgbClr val="5B45FF"/>
          </a:solidFill>
          <a:ln/>
        </p:spPr>
      </p:sp>
      <p:sp>
        <p:nvSpPr>
          <p:cNvPr id="18" name="Text 16"/>
          <p:cNvSpPr/>
          <p:nvPr/>
        </p:nvSpPr>
        <p:spPr>
          <a:xfrm>
            <a:off x="15183612" y="43525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9.3%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84148" y="5084064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0" name="Text 18"/>
          <p:cNvSpPr/>
          <p:nvPr/>
        </p:nvSpPr>
        <p:spPr>
          <a:xfrm>
            <a:off x="1184148" y="5230368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84148" y="5596128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4148" y="5596128"/>
            <a:ext cx="398818" cy="133502"/>
          </a:xfrm>
          <a:prstGeom prst="roundRect">
            <a:avLst>
              <a:gd name="adj" fmla="val 342467"/>
            </a:avLst>
          </a:prstGeom>
          <a:solidFill>
            <a:srgbClr val="7551FF"/>
          </a:solidFill>
          <a:ln/>
        </p:spPr>
      </p:sp>
      <p:sp>
        <p:nvSpPr>
          <p:cNvPr id="23" name="Text 21"/>
          <p:cNvSpPr/>
          <p:nvPr/>
        </p:nvSpPr>
        <p:spPr>
          <a:xfrm>
            <a:off x="15183612" y="5321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84148" y="6053328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25" name="Text 23"/>
          <p:cNvSpPr/>
          <p:nvPr/>
        </p:nvSpPr>
        <p:spPr>
          <a:xfrm>
            <a:off x="1184148" y="6199632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Coffee &amp; Beverages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184148" y="6565392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4148" y="6565392"/>
            <a:ext cx="36576" cy="133502"/>
          </a:xfrm>
          <a:prstGeom prst="roundRect">
            <a:avLst>
              <a:gd name="adj" fmla="val 1250000"/>
            </a:avLst>
          </a:prstGeom>
          <a:solidFill>
            <a:srgbClr val="8E74FF"/>
          </a:solidFill>
          <a:ln/>
        </p:spPr>
      </p:sp>
      <p:sp>
        <p:nvSpPr>
          <p:cNvPr id="28" name="Text 26"/>
          <p:cNvSpPr/>
          <p:nvPr/>
        </p:nvSpPr>
        <p:spPr>
          <a:xfrm>
            <a:off x="15183612" y="6291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84148" y="7022592"/>
            <a:ext cx="15919704" cy="10973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30" name="Text 28"/>
          <p:cNvSpPr/>
          <p:nvPr/>
        </p:nvSpPr>
        <p:spPr>
          <a:xfrm>
            <a:off x="1184148" y="7168896"/>
            <a:ext cx="1390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Personal Care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84148" y="7534656"/>
            <a:ext cx="9870216" cy="133502"/>
          </a:xfrm>
          <a:prstGeom prst="roundRect">
            <a:avLst>
              <a:gd name="adj" fmla="val 342467"/>
            </a:avLst>
          </a:prstGeom>
          <a:solidFill>
            <a:srgbClr val="F4F7FE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4148" y="7534656"/>
            <a:ext cx="36576" cy="133502"/>
          </a:xfrm>
          <a:prstGeom prst="roundRect">
            <a:avLst>
              <a:gd name="adj" fmla="val 1250000"/>
            </a:avLst>
          </a:prstGeom>
          <a:solidFill>
            <a:srgbClr val="A995FF"/>
          </a:solidFill>
          <a:ln/>
        </p:spPr>
      </p:sp>
      <p:sp>
        <p:nvSpPr>
          <p:cNvPr id="33" name="Text 31"/>
          <p:cNvSpPr/>
          <p:nvPr/>
        </p:nvSpPr>
        <p:spPr>
          <a:xfrm>
            <a:off x="15183612" y="72603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38" name="Text 36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B3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90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44700" y="6720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05 of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FFFFFF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800100" y="3749040"/>
            <a:ext cx="1668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4114800"/>
            <a:ext cx="12015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Health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03464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Retention, repeat purchase behaviour, and the cohorts worth acting 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" y="7498080"/>
            <a:ext cx="1668780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7882128"/>
            <a:ext cx="1632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CUSTOMERS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183880"/>
            <a:ext cx="1632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Health &amp; Retention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your own order and customer history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8211312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01852" y="2596896"/>
            <a:ext cx="7607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PURCHASE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1852" y="2935224"/>
            <a:ext cx="7607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276588" y="2331720"/>
            <a:ext cx="8211312" cy="1792224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578340" y="2596896"/>
            <a:ext cx="7607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CUSTOMER LTV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78340" y="2935224"/>
            <a:ext cx="7607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 120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8" name="Text 16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B3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90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44700" y="6720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06 of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FFFFFF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800100" y="3749040"/>
            <a:ext cx="1668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4114800"/>
            <a:ext cx="12015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Do Next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03464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ordered by what this cycle's data says will compound fastest.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" y="7498080"/>
            <a:ext cx="1668780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7882128"/>
            <a:ext cx="7978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183880"/>
            <a:ext cx="7978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0" y="7882128"/>
            <a:ext cx="7978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DETECTED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8183880"/>
            <a:ext cx="7978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4" name="Text 12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Prioritised Recommendations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action, ordered by expected impact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16687800" cy="1207008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0100" y="2496312"/>
            <a:ext cx="64008" cy="877824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0" name="Text 8"/>
          <p:cNvSpPr/>
          <p:nvPr/>
        </p:nvSpPr>
        <p:spPr>
          <a:xfrm>
            <a:off x="1184148" y="25877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943100" y="2606040"/>
            <a:ext cx="960120" cy="270662"/>
          </a:xfrm>
          <a:prstGeom prst="roundRect">
            <a:avLst>
              <a:gd name="adj" fmla="val 114865"/>
            </a:avLst>
          </a:prstGeom>
          <a:solidFill>
            <a:srgbClr val="FFF6DA"/>
          </a:solidFill>
          <a:ln/>
        </p:spPr>
      </p:sp>
      <p:sp>
        <p:nvSpPr>
          <p:cNvPr id="12" name="Text 10"/>
          <p:cNvSpPr/>
          <p:nvPr/>
        </p:nvSpPr>
        <p:spPr>
          <a:xfrm>
            <a:off x="1943100" y="2606040"/>
            <a:ext cx="960120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76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86100" y="2532888"/>
            <a:ext cx="1399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pricing against the tracked market's typical range for this category.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8" name="Text 16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B3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90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44700" y="6720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07 of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344400" y="20116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FFFFFF">
                    <a:alpha val="1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800100" y="3749040"/>
            <a:ext cx="1668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4114800"/>
            <a:ext cx="12015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&amp; Privacy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00100" y="5577840"/>
            <a:ext cx="103464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source behind this report, and the limits of what it can claim.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" y="7498080"/>
            <a:ext cx="1668780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7882128"/>
            <a:ext cx="7978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8183880"/>
            <a:ext cx="7978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0" y="7882128"/>
            <a:ext cx="7978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STATED LIMITATIONS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8183880"/>
            <a:ext cx="79781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5275052" y="9601200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4" name="Text 12"/>
          <p:cNvSpPr/>
          <p:nvPr/>
        </p:nvSpPr>
        <p:spPr>
          <a:xfrm>
            <a:off x="15275052" y="9601200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Methodology, Privacy &amp; Data Sources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this report was built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8078724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4148" y="2660904"/>
            <a:ext cx="73106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84148" y="3246120"/>
            <a:ext cx="73106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store data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84148" y="3575304"/>
            <a:ext cx="73106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Orders, products and customers from your own account.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4148" y="4297680"/>
            <a:ext cx="73106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 market scan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84148" y="4626864"/>
            <a:ext cx="73106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Publicly listed prices and stock status scraped from tracked retailer marketplaces.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409176" y="2331720"/>
            <a:ext cx="8078724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93224" y="2660904"/>
            <a:ext cx="73106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793224" y="3337560"/>
            <a:ext cx="54864" cy="4572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94976" y="3246120"/>
            <a:ext cx="69814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Repricing rate is a floor, not exhaustive - price moves that reverted between scheduled scrapes are not observed.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93224" y="4389120"/>
            <a:ext cx="54864" cy="457200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94976" y="4297680"/>
            <a:ext cx="69814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Product/portfolio contribution is based on inventory value, not recorded sales revenue.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93224" y="8481060"/>
            <a:ext cx="73106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status: draft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25" name="Text 23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988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41879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Ryvl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659100" y="4343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A3AE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00100" y="838505"/>
            <a:ext cx="16687800" cy="587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5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0100" y="1443838"/>
            <a:ext cx="16687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notes - never included in client-safe exports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0" y="198882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2331720"/>
            <a:ext cx="16687800" cy="6789420"/>
          </a:xfrm>
          <a:prstGeom prst="roundRect">
            <a:avLst>
              <a:gd name="adj" fmla="val 16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486900"/>
            <a:ext cx="18288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9486900"/>
            <a:ext cx="18288000" cy="10973"/>
          </a:xfrm>
          <a:prstGeom prst="rect">
            <a:avLst/>
          </a:prstGeom>
          <a:solidFill>
            <a:srgbClr val="E9EDF7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" y="9791395"/>
            <a:ext cx="1394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i="1" dirty="0">
                <a:solidFill>
                  <a:srgbClr val="707E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Your store data - Ryvl market scan  ·  Generated 6 Aug 2026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5275052" y="9722815"/>
            <a:ext cx="2212848" cy="335585"/>
          </a:xfrm>
          <a:prstGeom prst="roundRect">
            <a:avLst>
              <a:gd name="adj" fmla="val 49046"/>
            </a:avLst>
          </a:prstGeom>
          <a:solidFill>
            <a:srgbClr val="FEEFEE"/>
          </a:solidFill>
          <a:ln/>
        </p:spPr>
      </p:sp>
      <p:sp>
        <p:nvSpPr>
          <p:cNvPr id="13" name="Text 11"/>
          <p:cNvSpPr/>
          <p:nvPr/>
        </p:nvSpPr>
        <p:spPr>
          <a:xfrm>
            <a:off x="15275052" y="9722815"/>
            <a:ext cx="2212848" cy="335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5D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- not for distribution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Ryvl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 - Last 30 days</dc:title>
  <dc:subject>PptxGenJS Presentation</dc:subject>
  <dc:creator>Ryvl</dc:creator>
  <cp:lastModifiedBy>Ryvl</cp:lastModifiedBy>
  <cp:revision>1</cp:revision>
  <dcterms:created xsi:type="dcterms:W3CDTF">2026-08-06T06:02:21Z</dcterms:created>
  <dcterms:modified xsi:type="dcterms:W3CDTF">2026-08-06T06:02:21Z</dcterms:modified>
</cp:coreProperties>
</file>