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3.xml" ContentType="application/vnd.openxmlformats-officedocument.them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  <p:sldMasterId r:id="rId54-created" id="2147483671"/>
  </p:sldMasterIdLst>
  <p:notesMasterIdLst>
    <p:notesMasterId r:id="rId6"/>
  </p:notesMasterIdLst>
  <p:sldIdLst>
    <p:sldId r:id="rId42-created" id="256"/>
    <p:sldId r:id="rId55-created" id="257"/>
    <p:sldId r:id="rId56-created" id="258"/>
    <p:sldId r:id="rId57-created" id="259"/>
    <p:sldId r:id="rId58-created" id="260"/>
    <p:sldId r:id="rId59-created" id="261"/>
    <p:sldId r:id="rId60-created" id="262"/>
    <p:sldId r:id="rId61-created" id="263"/>
    <p:sldId r:id="rId62-created" id="264"/>
    <p:sldId r:id="rId63-created" id="265"/>
    <p:sldId r:id="rId64-created" id="266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lus Jakarta Sans ExtraBold"/>
      <p:bold r:id="rId22"/>
      <p:boldItalic r:id="rId23"/>
    </p:embeddedFont>
    <p:embeddedFont>
      <p:font typeface="Plus Jakarta Sans"/>
      <p:regular r:id="rId24"/>
      <p:bold r:id="rId25"/>
      <p:italic r:id="rId26"/>
      <p:boldItalic r:id="rId27"/>
    </p:embeddedFont>
    <p:embeddedFont>
      <p:font typeface="Inter"/>
      <p:regular r:id="rId28"/>
      <p:bold r:id="rId29"/>
      <p:italic r:id="rId30"/>
      <p:boldItalic r:id="rId31"/>
    </p:embeddedFont>
    <p:embeddedFont>
      <p:font typeface="Plus Jakarta Sans SemiBold"/>
      <p:regular r:id="rId32"/>
      <p:bold r:id="rId33"/>
      <p:italic r:id="rId34"/>
      <p:boldItalic r:id="rId35"/>
    </p:embeddedFont>
    <p:embeddedFont>
      <p:font typeface="Inter ExtraBold"/>
      <p:bold r:id="rId36"/>
      <p:boldItalic r:id="rId37"/>
    </p:embeddedFont>
    <p:embeddedFont>
      <p:font typeface="Inter Medium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619385-9818-4AFC-A509-18FD5C29BBEC}">
  <a:tblStyle styleId="{B9619385-9818-4AFC-A509-18FD5C29BBE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40" Type="http://schemas.openxmlformats.org/officeDocument/2006/relationships/font" Target="fonts/InterMedium-italic.fntdata"/><Relationship Id="rId20" Type="http://schemas.openxmlformats.org/officeDocument/2006/relationships/font" Target="fonts/InterSemiBold-italic.fntdata"/><Relationship Id="rId41" Type="http://schemas.openxmlformats.org/officeDocument/2006/relationships/font" Target="fonts/InterMedium-boldItalic.fntdata"/><Relationship Id="rId22" Type="http://schemas.openxmlformats.org/officeDocument/2006/relationships/font" Target="fonts/PlusJakartaSansExtraBold-bold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lusJakartaSans-regular.fntdata"/><Relationship Id="rId23" Type="http://schemas.openxmlformats.org/officeDocument/2006/relationships/font" Target="fonts/PlusJakartaSansExtra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italic.fntdata"/><Relationship Id="rId25" Type="http://schemas.openxmlformats.org/officeDocument/2006/relationships/font" Target="fonts/PlusJakartaSans-bold.fntdata"/><Relationship Id="rId28" Type="http://schemas.openxmlformats.org/officeDocument/2006/relationships/font" Target="fonts/Inter-regular.fntdata"/><Relationship Id="rId27" Type="http://schemas.openxmlformats.org/officeDocument/2006/relationships/font" Target="fonts/PlusJakarta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PlusJakartaSa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lusJakartaSa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lusJakartaSa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lusJakartaSa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ExtraBold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ExtraBold-bold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.fntdata"/><Relationship Id="rId16" Type="http://schemas.openxmlformats.org/officeDocument/2006/relationships/slide" Target="slides/slide10.xml"/><Relationship Id="rId38" Type="http://schemas.openxmlformats.org/officeDocument/2006/relationships/font" Target="fonts/InterMedium-regular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Relationship Id="rId42-created" Type="http://schemas.openxmlformats.org/officeDocument/2006/relationships/slide" Target="slides/slide12.xml"/><Relationship Id="rId43-created" Type="http://schemas.openxmlformats.org/officeDocument/2006/relationships/slideLayout" Target="slideLayouts/slideLayout12.xml"/><Relationship Id="rId44-created" Type="http://schemas.openxmlformats.org/officeDocument/2006/relationships/slideLayout" Target="slideLayouts/slideLayout13.xml"/><Relationship Id="rId45-created" Type="http://schemas.openxmlformats.org/officeDocument/2006/relationships/slideLayout" Target="slideLayouts/slideLayout14.xml"/><Relationship Id="rId46-created" Type="http://schemas.openxmlformats.org/officeDocument/2006/relationships/slideLayout" Target="slideLayouts/slideLayout15.xml"/><Relationship Id="rId47-created" Type="http://schemas.openxmlformats.org/officeDocument/2006/relationships/slideLayout" Target="slideLayouts/slideLayout16.xml"/><Relationship Id="rId48-created" Type="http://schemas.openxmlformats.org/officeDocument/2006/relationships/slideLayout" Target="slideLayouts/slideLayout17.xml"/><Relationship Id="rId49-created" Type="http://schemas.openxmlformats.org/officeDocument/2006/relationships/slideLayout" Target="slideLayouts/slideLayout18.xml"/><Relationship Id="rId50-created" Type="http://schemas.openxmlformats.org/officeDocument/2006/relationships/slideLayout" Target="slideLayouts/slideLayout19.xml"/><Relationship Id="rId51-created" Type="http://schemas.openxmlformats.org/officeDocument/2006/relationships/slideLayout" Target="slideLayouts/slideLayout20.xml"/><Relationship Id="rId52-created" Type="http://schemas.openxmlformats.org/officeDocument/2006/relationships/slideLayout" Target="slideLayouts/slideLayout21.xml"/><Relationship Id="rId53-created" Type="http://schemas.openxmlformats.org/officeDocument/2006/relationships/slideLayout" Target="slideLayouts/slideLayout22.xml"/><Relationship Id="rId54-created" Type="http://schemas.openxmlformats.org/officeDocument/2006/relationships/slideMaster" Target="slideMasters/slideMaster2.xml"/><Relationship Id="rId55-created" Type="http://schemas.openxmlformats.org/officeDocument/2006/relationships/slide" Target="slides/slide13.xml"/><Relationship Id="rId56-created" Type="http://schemas.openxmlformats.org/officeDocument/2006/relationships/slide" Target="slides/slide14.xml"/><Relationship Id="rId57-created" Type="http://schemas.openxmlformats.org/officeDocument/2006/relationships/slide" Target="slides/slide15.xml"/><Relationship Id="rId58-created" Type="http://schemas.openxmlformats.org/officeDocument/2006/relationships/slide" Target="slides/slide16.xml"/><Relationship Id="rId59-created" Type="http://schemas.openxmlformats.org/officeDocument/2006/relationships/slide" Target="slides/slide17.xml"/><Relationship Id="rId60-created" Type="http://schemas.openxmlformats.org/officeDocument/2006/relationships/slide" Target="slides/slide18.xml"/><Relationship Id="rId61-created" Type="http://schemas.openxmlformats.org/officeDocument/2006/relationships/slide" Target="slides/slide19.xml"/><Relationship Id="rId62-created" Type="http://schemas.openxmlformats.org/officeDocument/2006/relationships/slide" Target="slides/slide20.xml"/><Relationship Id="rId63-created" Type="http://schemas.openxmlformats.org/officeDocument/2006/relationships/slide" Target="slides/slide21.xml"/><Relationship Id="rId64-created" Type="http://schemas.openxmlformats.org/officeDocument/2006/relationships/slide" Target="slides/slide2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5.png"/><Relationship Id="rId13" Type="http://schemas.openxmlformats.org/officeDocument/2006/relationships/image" Target="../media/image15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5" Type="http://schemas.openxmlformats.org/officeDocument/2006/relationships/image" Target="../media/image24.png"/><Relationship Id="rId14" Type="http://schemas.openxmlformats.org/officeDocument/2006/relationships/image" Target="../media/image14.png"/><Relationship Id="rId17" Type="http://schemas.openxmlformats.org/officeDocument/2006/relationships/image" Target="../media/image76.png"/><Relationship Id="rId16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9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46.png"/><Relationship Id="rId13" Type="http://schemas.openxmlformats.org/officeDocument/2006/relationships/image" Target="../media/image43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32.png"/><Relationship Id="rId15" Type="http://schemas.openxmlformats.org/officeDocument/2006/relationships/image" Target="../media/image45.png"/><Relationship Id="rId14" Type="http://schemas.openxmlformats.org/officeDocument/2006/relationships/image" Target="../media/image48.png"/><Relationship Id="rId17" Type="http://schemas.openxmlformats.org/officeDocument/2006/relationships/image" Target="../media/image40.png"/><Relationship Id="rId16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42.png"/><Relationship Id="rId7" Type="http://schemas.openxmlformats.org/officeDocument/2006/relationships/image" Target="../media/image58.png"/><Relationship Id="rId8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61.png"/><Relationship Id="rId8" Type="http://schemas.openxmlformats.org/officeDocument/2006/relationships/image" Target="../media/image56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71.png"/><Relationship Id="rId13" Type="http://schemas.openxmlformats.org/officeDocument/2006/relationships/image" Target="../media/image54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9" Type="http://schemas.openxmlformats.org/officeDocument/2006/relationships/image" Target="../media/image5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0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77.png"/><Relationship Id="rId13" Type="http://schemas.openxmlformats.org/officeDocument/2006/relationships/image" Target="../media/image73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Relationship Id="rId15" Type="http://schemas.openxmlformats.org/officeDocument/2006/relationships/image" Target="../media/image64.png"/><Relationship Id="rId14" Type="http://schemas.openxmlformats.org/officeDocument/2006/relationships/image" Target="../media/image70.png"/><Relationship Id="rId5" Type="http://schemas.openxmlformats.org/officeDocument/2006/relationships/image" Target="../media/image63.png"/><Relationship Id="rId6" Type="http://schemas.openxmlformats.org/officeDocument/2006/relationships/image" Target="../media/image55.png"/><Relationship Id="rId7" Type="http://schemas.openxmlformats.org/officeDocument/2006/relationships/image" Target="../media/image6.png"/><Relationship Id="rId8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6.png"/><Relationship Id="rId9" Type="http://schemas.openxmlformats.org/officeDocument/2006/relationships/image" Target="../media/image74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2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10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.png"/><Relationship Id="rId11-created" Type="http://schemas.openxmlformats.org/officeDocument/2006/relationships/image" Target="../media/media78.png"/><Relationship Id="rId12-created" Type="http://schemas.openxmlformats.org/officeDocument/2006/relationships/image" Target="../media/media79.png"/><Relationship Id="rId13-created" Type="http://schemas.openxmlformats.org/officeDocument/2006/relationships/image" Target="../media/media80.png"/><Relationship Id="rId14-created" Type="http://schemas.openxmlformats.org/officeDocument/2006/relationships/image" Target="../media/media81.png"/><Relationship Id="rId15-created" Type="http://schemas.openxmlformats.org/officeDocument/2006/relationships/image" Target="../media/media82.png"/><Relationship Id="rId16-created" Type="http://schemas.openxmlformats.org/officeDocument/2006/relationships/image" Target="../media/media83.png"/><Relationship Id="rId17-created" Type="http://schemas.openxmlformats.org/officeDocument/2006/relationships/image" Target="../media/media84.png"/><Relationship Id="rId18-created" Type="http://schemas.openxmlformats.org/officeDocument/2006/relationships/image" Target="../media/media85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-created" Type="http://schemas.openxmlformats.org/officeDocument/2006/relationships/image" Target="../media/media86.png"/><Relationship Id="rId8-created" Type="http://schemas.openxmlformats.org/officeDocument/2006/relationships/image" Target="../media/media87.png"/><Relationship Id="rId9-created" Type="http://schemas.openxmlformats.org/officeDocument/2006/relationships/image" Target="../media/media88.png"/><Relationship Id="rId10-created" Type="http://schemas.openxmlformats.org/officeDocument/2006/relationships/image" Target="../media/media89.png"/></Relationships>
</file>

<file path=ppt/slides/_rels/slide14.xml.rels><?xml version="1.0" encoding="UTF-8" standalone="yes"?>
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5.png"/><Relationship Id="rId13" Type="http://schemas.openxmlformats.org/officeDocument/2006/relationships/image" Target="../media/image15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9" Type="http://schemas.openxmlformats.org/officeDocument/2006/relationships/image" Target="../media/image4.png"/><Relationship Id="rId15" Type="http://schemas.openxmlformats.org/officeDocument/2006/relationships/image" Target="../media/image24.png"/><Relationship Id="rId14" Type="http://schemas.openxmlformats.org/officeDocument/2006/relationships/image" Target="../media/image14.png"/><Relationship Id="rId17" Type="http://schemas.openxmlformats.org/officeDocument/2006/relationships/image" Target="../media/image76.png"/><Relationship Id="rId16" Type="http://schemas.openxmlformats.org/officeDocument/2006/relationships/image" Target="../media/image23.png"/><Relationship Id="rId5" Type="http://schemas.openxmlformats.org/officeDocument/2006/relationships/image" Target="../media/image28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17.png"/><Relationship Id="rId18-created" Type="http://schemas.openxmlformats.org/officeDocument/2006/relationships/image" Target="../media/media90.png"/><Relationship Id="rId19-created" Type="http://schemas.openxmlformats.org/officeDocument/2006/relationships/image" Target="../media/media91.png"/><Relationship Id="rId20-created" Type="http://schemas.openxmlformats.org/officeDocument/2006/relationships/image" Target="../media/media92.png"/><Relationship Id="rId21-created" Type="http://schemas.openxmlformats.org/officeDocument/2006/relationships/image" Target="../media/media93.png"/><Relationship Id="rId22-created" Type="http://schemas.openxmlformats.org/officeDocument/2006/relationships/image" Target="../media/media94.png"/><Relationship Id="rId23-created" Type="http://schemas.openxmlformats.org/officeDocument/2006/relationships/image" Target="../media/media95.png"/><Relationship Id="rId24-created" Type="http://schemas.openxmlformats.org/officeDocument/2006/relationships/image" Target="../media/media96.png"/><Relationship Id="rId25-created" Type="http://schemas.openxmlformats.org/officeDocument/2006/relationships/image" Target="../media/media97.png"/><Relationship Id="rId26-created" Type="http://schemas.openxmlformats.org/officeDocument/2006/relationships/image" Target="../media/media98.png"/><Relationship Id="rId27-created" Type="http://schemas.openxmlformats.org/officeDocument/2006/relationships/image" Target="../media/media99.png"/><Relationship Id="rId28-created" Type="http://schemas.openxmlformats.org/officeDocument/2006/relationships/image" Target="../media/media100.png"/><Relationship Id="rId29-created" Type="http://schemas.openxmlformats.org/officeDocument/2006/relationships/image" Target="../media/media101.png"/><Relationship Id="rId30-created" Type="http://schemas.openxmlformats.org/officeDocument/2006/relationships/image" Target="../media/media102.png"/><Relationship Id="rId31-created" Type="http://schemas.openxmlformats.org/officeDocument/2006/relationships/image" Target="../media/media103.png"/><Relationship Id="rId32-created" Type="http://schemas.openxmlformats.org/officeDocument/2006/relationships/image" Target="../media/media104.png"/></Relationships>
</file>

<file path=ppt/slides/_rels/slide15.xml.rels><?xml version="1.0" encoding="UTF-8" standalone="yes"?>
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2.png"/><Relationship Id="rId1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2.png"/><Relationship Id="rId9" Type="http://schemas.openxmlformats.org/officeDocument/2006/relationships/image" Target="../media/image6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Relationship Id="rId8" Type="http://schemas.openxmlformats.org/officeDocument/2006/relationships/image" Target="../media/image19.png"/><Relationship Id="rId13-created" Type="http://schemas.openxmlformats.org/officeDocument/2006/relationships/image" Target="../media/media105.png"/><Relationship Id="rId14-created" Type="http://schemas.openxmlformats.org/officeDocument/2006/relationships/image" Target="../media/media106.png"/><Relationship Id="rId15-created" Type="http://schemas.openxmlformats.org/officeDocument/2006/relationships/image" Target="../media/media107.png"/><Relationship Id="rId16-created" Type="http://schemas.openxmlformats.org/officeDocument/2006/relationships/image" Target="../media/media108.png"/><Relationship Id="rId17-created" Type="http://schemas.openxmlformats.org/officeDocument/2006/relationships/image" Target="../media/media109.png"/><Relationship Id="rId18-created" Type="http://schemas.openxmlformats.org/officeDocument/2006/relationships/image" Target="../media/media110.png"/><Relationship Id="rId19-created" Type="http://schemas.openxmlformats.org/officeDocument/2006/relationships/image" Target="../media/media111.png"/><Relationship Id="rId20-created" Type="http://schemas.openxmlformats.org/officeDocument/2006/relationships/image" Target="../media/media112.png"/><Relationship Id="rId21-created" Type="http://schemas.openxmlformats.org/officeDocument/2006/relationships/image" Target="../media/media113.png"/><Relationship Id="rId22-created" Type="http://schemas.openxmlformats.org/officeDocument/2006/relationships/image" Target="../media/media114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3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Relationship Id="rId9-created" Type="http://schemas.openxmlformats.org/officeDocument/2006/relationships/image" Target="../media/media115.png"/><Relationship Id="rId10-created" Type="http://schemas.openxmlformats.org/officeDocument/2006/relationships/image" Target="../media/media116.png"/><Relationship Id="rId11-created" Type="http://schemas.openxmlformats.org/officeDocument/2006/relationships/image" Target="../media/media117.png"/><Relationship Id="rId12-created" Type="http://schemas.openxmlformats.org/officeDocument/2006/relationships/image" Target="../media/media118.png"/><Relationship Id="rId13-created" Type="http://schemas.openxmlformats.org/officeDocument/2006/relationships/image" Target="../media/media119.png"/><Relationship Id="rId14-created" Type="http://schemas.openxmlformats.org/officeDocument/2006/relationships/image" Target="../media/media120.png"/></Relationships>
</file>

<file path=ppt/slides/_rels/slide17.xml.rels><?xml version="1.0" encoding="UTF-8" standalone="yes"?>
<Relationships xmlns="http://schemas.openxmlformats.org/package/2006/relationships"><Relationship Id="rId10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31.png"/><Relationship Id="rId9" Type="http://schemas.openxmlformats.org/officeDocument/2006/relationships/image" Target="../media/image30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6.png"/><Relationship Id="rId8" Type="http://schemas.openxmlformats.org/officeDocument/2006/relationships/image" Target="../media/image2.png"/><Relationship Id="rId11-created" Type="http://schemas.openxmlformats.org/officeDocument/2006/relationships/image" Target="../media/media121.png"/><Relationship Id="rId12-created" Type="http://schemas.openxmlformats.org/officeDocument/2006/relationships/image" Target="../media/media122.png"/><Relationship Id="rId13-created" Type="http://schemas.openxmlformats.org/officeDocument/2006/relationships/image" Target="../media/media123.png"/><Relationship Id="rId14-created" Type="http://schemas.openxmlformats.org/officeDocument/2006/relationships/image" Target="../media/media124.png"/><Relationship Id="rId15-created" Type="http://schemas.openxmlformats.org/officeDocument/2006/relationships/image" Target="../media/media125.png"/><Relationship Id="rId16-created" Type="http://schemas.openxmlformats.org/officeDocument/2006/relationships/image" Target="../media/media126.png"/><Relationship Id="rId17-created" Type="http://schemas.openxmlformats.org/officeDocument/2006/relationships/image" Target="../media/media127.png"/><Relationship Id="rId18-created" Type="http://schemas.openxmlformats.org/officeDocument/2006/relationships/image" Target="../media/media128.png"/></Relationships>
</file>

<file path=ppt/slides/_rels/slide18.xml.rels><?xml version="1.0" encoding="UTF-8" standalone="yes"?>
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46.png"/><Relationship Id="rId13" Type="http://schemas.openxmlformats.org/officeDocument/2006/relationships/image" Target="../media/image43.png"/><Relationship Id="rId1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32.png"/><Relationship Id="rId15" Type="http://schemas.openxmlformats.org/officeDocument/2006/relationships/image" Target="../media/image45.png"/><Relationship Id="rId14" Type="http://schemas.openxmlformats.org/officeDocument/2006/relationships/image" Target="../media/image48.png"/><Relationship Id="rId17" Type="http://schemas.openxmlformats.org/officeDocument/2006/relationships/image" Target="../media/image40.png"/><Relationship Id="rId16" Type="http://schemas.openxmlformats.org/officeDocument/2006/relationships/image" Target="../media/image41.png"/><Relationship Id="rId5" Type="http://schemas.openxmlformats.org/officeDocument/2006/relationships/image" Target="../media/image2.png"/><Relationship Id="rId6" Type="http://schemas.openxmlformats.org/officeDocument/2006/relationships/image" Target="../media/image42.png"/><Relationship Id="rId7" Type="http://schemas.openxmlformats.org/officeDocument/2006/relationships/image" Target="../media/image58.png"/><Relationship Id="rId8" Type="http://schemas.openxmlformats.org/officeDocument/2006/relationships/image" Target="../media/image44.png"/><Relationship Id="rId18-created" Type="http://schemas.openxmlformats.org/officeDocument/2006/relationships/image" Target="../media/media129.png"/><Relationship Id="rId19-created" Type="http://schemas.openxmlformats.org/officeDocument/2006/relationships/image" Target="../media/media130.png"/><Relationship Id="rId20-created" Type="http://schemas.openxmlformats.org/officeDocument/2006/relationships/image" Target="../media/media131.png"/><Relationship Id="rId21-created" Type="http://schemas.openxmlformats.org/officeDocument/2006/relationships/image" Target="../media/media132.png"/><Relationship Id="rId22-created" Type="http://schemas.openxmlformats.org/officeDocument/2006/relationships/image" Target="../media/media133.png"/><Relationship Id="rId23-created" Type="http://schemas.openxmlformats.org/officeDocument/2006/relationships/image" Target="../media/media134.png"/><Relationship Id="rId24-created" Type="http://schemas.openxmlformats.org/officeDocument/2006/relationships/image" Target="../media/media135.png"/><Relationship Id="rId25-created" Type="http://schemas.openxmlformats.org/officeDocument/2006/relationships/image" Target="../media/media136.png"/><Relationship Id="rId26-created" Type="http://schemas.openxmlformats.org/officeDocument/2006/relationships/image" Target="../media/media137.png"/><Relationship Id="rId27-created" Type="http://schemas.openxmlformats.org/officeDocument/2006/relationships/image" Target="../media/media138.png"/><Relationship Id="rId28-created" Type="http://schemas.openxmlformats.org/officeDocument/2006/relationships/image" Target="../media/media139.png"/><Relationship Id="rId29-created" Type="http://schemas.openxmlformats.org/officeDocument/2006/relationships/image" Target="../media/media140.png"/><Relationship Id="rId30-created" Type="http://schemas.openxmlformats.org/officeDocument/2006/relationships/image" Target="../media/media141.png"/><Relationship Id="rId31-created" Type="http://schemas.openxmlformats.org/officeDocument/2006/relationships/image" Target="../media/media142.png"/><Relationship Id="rId32-created" Type="http://schemas.openxmlformats.org/officeDocument/2006/relationships/image" Target="../media/media143.png"/><Relationship Id="rId33-created" Type="http://schemas.openxmlformats.org/officeDocument/2006/relationships/image" Target="../media/media144.png"/><Relationship Id="rId34-created" Type="http://schemas.openxmlformats.org/officeDocument/2006/relationships/image" Target="../media/media145.png"/><Relationship Id="rId35-created" Type="http://schemas.openxmlformats.org/officeDocument/2006/relationships/image" Target="../media/media146.png"/><Relationship Id="rId36-created" Type="http://schemas.openxmlformats.org/officeDocument/2006/relationships/image" Target="../media/media147.png"/><Relationship Id="rId37-created" Type="http://schemas.openxmlformats.org/officeDocument/2006/relationships/image" Target="../media/media148.png"/><Relationship Id="rId38-created" Type="http://schemas.openxmlformats.org/officeDocument/2006/relationships/image" Target="../media/media149.png"/><Relationship Id="rId39-created" Type="http://schemas.openxmlformats.org/officeDocument/2006/relationships/image" Target="../media/media150.png"/><Relationship Id="rId40-created" Type="http://schemas.openxmlformats.org/officeDocument/2006/relationships/image" Target="../media/media151.png"/><Relationship Id="rId41-created" Type="http://schemas.openxmlformats.org/officeDocument/2006/relationships/image" Target="../media/media152.png"/><Relationship Id="rId42-created" Type="http://schemas.openxmlformats.org/officeDocument/2006/relationships/image" Target="../media/media153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61.png"/><Relationship Id="rId8" Type="http://schemas.openxmlformats.org/officeDocument/2006/relationships/image" Target="../media/image56.png"/><Relationship Id="rId9-created" Type="http://schemas.openxmlformats.org/officeDocument/2006/relationships/image" Target="../media/media154.png"/><Relationship Id="rId10-created" Type="http://schemas.openxmlformats.org/officeDocument/2006/relationships/image" Target="../media/media155.png"/><Relationship Id="rId11-created" Type="http://schemas.openxmlformats.org/officeDocument/2006/relationships/image" Target="../media/media156.png"/><Relationship Id="rId12-created" Type="http://schemas.openxmlformats.org/officeDocument/2006/relationships/image" Target="../media/media157.png"/><Relationship Id="rId13-created" Type="http://schemas.openxmlformats.org/officeDocument/2006/relationships/image" Target="../media/media158.png"/><Relationship Id="rId14-created" Type="http://schemas.openxmlformats.org/officeDocument/2006/relationships/image" Target="../media/media159.png"/></Relationships>
</file>

<file path=ppt/slides/_rels/slide20.xml.rels><?xml version="1.0" encoding="UTF-8" standalone="yes"?>
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71.png"/><Relationship Id="rId13" Type="http://schemas.openxmlformats.org/officeDocument/2006/relationships/image" Target="../media/image54.png"/><Relationship Id="rId12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57.png"/><Relationship Id="rId9" Type="http://schemas.openxmlformats.org/officeDocument/2006/relationships/image" Target="../media/image5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50.png"/><Relationship Id="rId8" Type="http://schemas.openxmlformats.org/officeDocument/2006/relationships/image" Target="../media/image47.png"/><Relationship Id="rId14-created" Type="http://schemas.openxmlformats.org/officeDocument/2006/relationships/image" Target="../media/media160.png"/><Relationship Id="rId15-created" Type="http://schemas.openxmlformats.org/officeDocument/2006/relationships/image" Target="../media/media161.png"/><Relationship Id="rId16-created" Type="http://schemas.openxmlformats.org/officeDocument/2006/relationships/image" Target="../media/media162.png"/><Relationship Id="rId17-created" Type="http://schemas.openxmlformats.org/officeDocument/2006/relationships/image" Target="../media/media163.png"/><Relationship Id="rId18-created" Type="http://schemas.openxmlformats.org/officeDocument/2006/relationships/image" Target="../media/media164.png"/><Relationship Id="rId19-created" Type="http://schemas.openxmlformats.org/officeDocument/2006/relationships/image" Target="../media/media165.png"/><Relationship Id="rId20-created" Type="http://schemas.openxmlformats.org/officeDocument/2006/relationships/image" Target="../media/media166.png"/><Relationship Id="rId21-created" Type="http://schemas.openxmlformats.org/officeDocument/2006/relationships/image" Target="../media/media167.png"/><Relationship Id="rId22-created" Type="http://schemas.openxmlformats.org/officeDocument/2006/relationships/image" Target="../media/media168.png"/><Relationship Id="rId23-created" Type="http://schemas.openxmlformats.org/officeDocument/2006/relationships/image" Target="../media/media169.png"/><Relationship Id="rId24-created" Type="http://schemas.openxmlformats.org/officeDocument/2006/relationships/image" Target="../media/media170.png"/><Relationship Id="rId25-created" Type="http://schemas.openxmlformats.org/officeDocument/2006/relationships/image" Target="../media/media171.png"/><Relationship Id="rId26-created" Type="http://schemas.openxmlformats.org/officeDocument/2006/relationships/image" Target="../media/media172.png"/><Relationship Id="rId27-created" Type="http://schemas.openxmlformats.org/officeDocument/2006/relationships/image" Target="../media/media173.png"/><Relationship Id="rId28-created" Type="http://schemas.openxmlformats.org/officeDocument/2006/relationships/image" Target="../media/media174.png"/><Relationship Id="rId29-created" Type="http://schemas.openxmlformats.org/officeDocument/2006/relationships/image" Target="../media/media175.png"/></Relationships>
</file>

<file path=ppt/slides/_rels/slide21.xml.rels><?xml version="1.0" encoding="UTF-8" standalone="yes"?>
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77.png"/><Relationship Id="rId13" Type="http://schemas.openxmlformats.org/officeDocument/2006/relationships/image" Target="../media/image73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image" Target="../media/image60.png"/><Relationship Id="rId9" Type="http://schemas.openxmlformats.org/officeDocument/2006/relationships/image" Target="../media/image67.png"/><Relationship Id="rId15" Type="http://schemas.openxmlformats.org/officeDocument/2006/relationships/image" Target="../media/image64.png"/><Relationship Id="rId14" Type="http://schemas.openxmlformats.org/officeDocument/2006/relationships/image" Target="../media/image70.png"/><Relationship Id="rId5" Type="http://schemas.openxmlformats.org/officeDocument/2006/relationships/image" Target="../media/image63.png"/><Relationship Id="rId6" Type="http://schemas.openxmlformats.org/officeDocument/2006/relationships/image" Target="../media/image55.png"/><Relationship Id="rId7" Type="http://schemas.openxmlformats.org/officeDocument/2006/relationships/image" Target="../media/image6.png"/><Relationship Id="rId8" Type="http://schemas.openxmlformats.org/officeDocument/2006/relationships/image" Target="../media/image2.png"/><Relationship Id="rId16-created" Type="http://schemas.openxmlformats.org/officeDocument/2006/relationships/image" Target="../media/media176.png"/><Relationship Id="rId17-created" Type="http://schemas.openxmlformats.org/officeDocument/2006/relationships/image" Target="../media/media177.png"/><Relationship Id="rId18-created" Type="http://schemas.openxmlformats.org/officeDocument/2006/relationships/image" Target="../media/media178.png"/><Relationship Id="rId19-created" Type="http://schemas.openxmlformats.org/officeDocument/2006/relationships/image" Target="../media/media179.png"/><Relationship Id="rId20-created" Type="http://schemas.openxmlformats.org/officeDocument/2006/relationships/image" Target="../media/media180.png"/><Relationship Id="rId21-created" Type="http://schemas.openxmlformats.org/officeDocument/2006/relationships/image" Target="../media/media181.png"/><Relationship Id="rId22-created" Type="http://schemas.openxmlformats.org/officeDocument/2006/relationships/image" Target="../media/media182.png"/><Relationship Id="rId23-created" Type="http://schemas.openxmlformats.org/officeDocument/2006/relationships/image" Target="../media/media183.png"/><Relationship Id="rId24-created" Type="http://schemas.openxmlformats.org/officeDocument/2006/relationships/image" Target="../media/media184.png"/><Relationship Id="rId25-created" Type="http://schemas.openxmlformats.org/officeDocument/2006/relationships/image" Target="../media/media185.png"/><Relationship Id="rId26-created" Type="http://schemas.openxmlformats.org/officeDocument/2006/relationships/image" Target="../media/media186.png"/><Relationship Id="rId27-created" Type="http://schemas.openxmlformats.org/officeDocument/2006/relationships/image" Target="../media/media187.png"/><Relationship Id="rId28-created" Type="http://schemas.openxmlformats.org/officeDocument/2006/relationships/image" Target="../media/media188.png"/></Relationships>
</file>

<file path=ppt/slides/_rels/slide22.xml.rels><?xml version="1.0" encoding="UTF-8" standalone="yes"?>
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6.png"/><Relationship Id="rId12" Type="http://schemas.openxmlformats.org/officeDocument/2006/relationships/image" Target="../media/image75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66.png"/><Relationship Id="rId9" Type="http://schemas.openxmlformats.org/officeDocument/2006/relationships/image" Target="../media/image74.png"/><Relationship Id="rId5" Type="http://schemas.openxmlformats.org/officeDocument/2006/relationships/image" Target="../media/image65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2.png"/><Relationship Id="rId13-created" Type="http://schemas.openxmlformats.org/officeDocument/2006/relationships/image" Target="../media/media189.png"/><Relationship Id="rId14-created" Type="http://schemas.openxmlformats.org/officeDocument/2006/relationships/image" Target="../media/media190.png"/><Relationship Id="rId15-created" Type="http://schemas.openxmlformats.org/officeDocument/2006/relationships/image" Target="../media/media191.png"/><Relationship Id="rId16-created" Type="http://schemas.openxmlformats.org/officeDocument/2006/relationships/image" Target="../media/media192.png"/><Relationship Id="rId17-created" Type="http://schemas.openxmlformats.org/officeDocument/2006/relationships/image" Target="../media/media193.png"/><Relationship Id="rId18-created" Type="http://schemas.openxmlformats.org/officeDocument/2006/relationships/image" Target="../media/media194.png"/><Relationship Id="rId19-created" Type="http://schemas.openxmlformats.org/officeDocument/2006/relationships/image" Target="../media/media195.png"/><Relationship Id="rId20-created" Type="http://schemas.openxmlformats.org/officeDocument/2006/relationships/image" Target="../media/media196.png"/><Relationship Id="rId21-created" Type="http://schemas.openxmlformats.org/officeDocument/2006/relationships/image" Target="../media/media197.png"/><Relationship Id="rId22-created" Type="http://schemas.openxmlformats.org/officeDocument/2006/relationships/image" Target="../media/media198.png"/></Relationships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11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12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8986837" y="442912"/>
            <a:ext cx="26717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Ref: RYVL-TT-2026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3400" y="2491829"/>
            <a:ext cx="9001125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See your market.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5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Not just your store.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3400" y="3813720"/>
            <a:ext cx="78105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Benchmarking pricing, stock-outs, and category positioning across 7 major marketplaces. Deliver actionable clarity to drive margins and capture revenue opportunities.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33400" y="6296025"/>
            <a:ext cx="29527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Prepared for: tt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715500" y="6296025"/>
            <a:ext cx="1943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Generated: August 2026 | Confidential</a:t>
            </a:r>
            <a:r>
              <a:rPr b="1" i="0" lang="en-US" sz="9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15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16-created">
            <a:alphaModFix/>
          </a:blip>
          <a:srcRect b="0" l="0" r="0" t="0"/>
          <a:stretch/>
        </p:blipFill>
        <p:spPr>
          <a:xfrm>
            <a:off x="8986837" y="442912"/>
            <a:ext cx="118586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7-created">
            <a:alphaModFix/>
          </a:blip>
          <a:srcRect b="0" l="0" r="0" t="0"/>
          <a:stretch/>
        </p:blipFill>
        <p:spPr>
          <a:xfrm>
            <a:off x="533400" y="2072729"/>
            <a:ext cx="20193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533400" y="4975770"/>
            <a:ext cx="1905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Anonymized Peer Cohort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2667000" y="4975770"/>
            <a:ext cx="13906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Real-Time Signals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4286250" y="4975770"/>
            <a:ext cx="18573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Enterprise Grade Privacy</a:t>
            </a:r>
            <a:endParaRPr/>
          </a:p>
        </p:txBody>
      </p:sp>
      <p:pic>
        <p:nvPicPr>
          <p:cNvPr descr="image.png" id="98" name="Google Shape;98;p13"/>
          <p:cNvPicPr preferRelativeResize="0"/>
          <p:nvPr/>
        </p:nvPicPr>
        <p:blipFill rotWithShape="1">
          <a:blip r:embed="rId18-created">
            <a:alphaModFix/>
          </a:blip>
          <a:srcRect b="0" l="0" r="0" t="0"/>
          <a:stretch/>
        </p:blipFill>
        <p:spPr>
          <a:xfrm>
            <a:off x="533400" y="4994820"/>
            <a:ext cx="1524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4-created">
            <a:alphaModFix/>
          </a:blip>
          <a:srcRect b="0" l="0" r="0" t="0"/>
          <a:stretch/>
        </p:blipFill>
        <p:spPr>
          <a:xfrm>
            <a:off x="2667000" y="4994820"/>
            <a:ext cx="11430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3-created">
            <a:alphaModFix/>
          </a:blip>
          <a:srcRect b="0" l="0" r="0" t="0"/>
          <a:stretch/>
        </p:blipFill>
        <p:spPr>
          <a:xfrm>
            <a:off x="4286250" y="4994820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4"/>
          <p:cNvPicPr preferRelativeResize="0"/>
          <p:nvPr/>
        </p:nvPicPr>
        <p:blipFill rotWithShape="1">
          <a:blip r:embed="rId7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8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029950" y="476250"/>
            <a:ext cx="6286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Section 01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9-created">
            <a:alphaModFix/>
          </a:blip>
          <a:srcRect b="0" l="0" r="0" t="0"/>
          <a:stretch/>
        </p:blipFill>
        <p:spPr>
          <a:xfrm>
            <a:off x="5357812" y="2354609"/>
            <a:ext cx="14763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845468" y="2726084"/>
            <a:ext cx="8501062" cy="121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Position &amp; Core Performance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2762250" y="4170015"/>
            <a:ext cx="666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 high-level summary of your competitive standing, margin protection zones, and priority inventory actions for this operational cycle.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533400" y="6296025"/>
            <a:ext cx="1733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Seller Intelligence Platform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1220450" y="6296025"/>
            <a:ext cx="438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02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0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5"/>
          <p:cNvPicPr preferRelativeResize="0"/>
          <p:nvPr/>
        </p:nvPicPr>
        <p:blipFill rotWithShape="1">
          <a:blip r:embed="rId22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23-created">
            <a:alphaModFix/>
          </a:blip>
          <a:srcRect b="0" l="0" r="0" t="0"/>
          <a:stretch/>
        </p:blipFill>
        <p:spPr>
          <a:xfrm>
            <a:off x="533400" y="3152775"/>
            <a:ext cx="5391150" cy="2522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29-created">
            <a:alphaModFix/>
          </a:blip>
          <a:srcRect b="0" l="0" r="0" t="0"/>
          <a:stretch/>
        </p:blipFill>
        <p:spPr>
          <a:xfrm>
            <a:off x="6267450" y="3152775"/>
            <a:ext cx="5391150" cy="2522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30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33400" y="6296025"/>
            <a:ext cx="23907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Source: Ryvl Aggregated Commerce Engine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03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31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32-created">
            <a:alphaModFix/>
          </a:blip>
          <a:srcRect b="0" l="0" r="0" t="0"/>
          <a:stretch/>
        </p:blipFill>
        <p:spPr>
          <a:xfrm>
            <a:off x="10177462" y="442912"/>
            <a:ext cx="1481137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24-created">
            <a:alphaModFix/>
          </a:blip>
          <a:srcRect b="0" l="0" r="0" t="0"/>
          <a:stretch/>
        </p:blipFill>
        <p:spPr>
          <a:xfrm>
            <a:off x="533400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19-created">
            <a:alphaModFix/>
          </a:blip>
          <a:srcRect b="0" l="0" r="0" t="0"/>
          <a:stretch/>
        </p:blipFill>
        <p:spPr>
          <a:xfrm>
            <a:off x="3362325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18-created">
            <a:alphaModFix/>
          </a:blip>
          <a:srcRect b="0" l="0" r="0" t="0"/>
          <a:stretch/>
        </p:blipFill>
        <p:spPr>
          <a:xfrm>
            <a:off x="6191250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21-created">
            <a:alphaModFix/>
          </a:blip>
          <a:srcRect b="0" l="0" r="0" t="0"/>
          <a:stretch/>
        </p:blipFill>
        <p:spPr>
          <a:xfrm>
            <a:off x="9020175" y="1666875"/>
            <a:ext cx="263842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733425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REVENUE (30D)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33425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Rs 1,500,450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66775" y="2476500"/>
            <a:ext cx="2105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+100.0% vs prior period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3562350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ORDERS HANDLED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3562350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3695700" y="2476500"/>
            <a:ext cx="2105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+100.0% volume growth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391275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PRICE INDEX SCORE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391275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2757.7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24625" y="2476500"/>
            <a:ext cx="2105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+2657.7% above median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9220200" y="1866900"/>
            <a:ext cx="22383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STOCKOUT RISK SKUS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9220200" y="20955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0 SKUs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9382125" y="2476500"/>
            <a:ext cx="20764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0B98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On track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09625" y="3429000"/>
            <a:ext cx="5080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1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F46E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What Changed This Cycle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6543675" y="3429000"/>
            <a:ext cx="508063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15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Recommended Actions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20-created">
            <a:alphaModFix/>
          </a:blip>
          <a:srcRect b="0" l="0" r="0" t="0"/>
          <a:stretch/>
        </p:blipFill>
        <p:spPr>
          <a:xfrm>
            <a:off x="733425" y="2490787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5"/>
          <p:cNvPicPr preferRelativeResize="0"/>
          <p:nvPr/>
        </p:nvPicPr>
        <p:blipFill rotWithShape="1">
          <a:blip r:embed="rId20-created">
            <a:alphaModFix/>
          </a:blip>
          <a:srcRect b="0" l="0" r="0" t="0"/>
          <a:stretch/>
        </p:blipFill>
        <p:spPr>
          <a:xfrm>
            <a:off x="3562350" y="2490787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5"/>
          <p:cNvPicPr preferRelativeResize="0"/>
          <p:nvPr/>
        </p:nvPicPr>
        <p:blipFill rotWithShape="1">
          <a:blip r:embed="rId26-created">
            <a:alphaModFix/>
          </a:blip>
          <a:srcRect b="0" l="0" r="0" t="0"/>
          <a:stretch/>
        </p:blipFill>
        <p:spPr>
          <a:xfrm>
            <a:off x="6391275" y="2490787"/>
            <a:ext cx="95250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5"/>
          <p:cNvPicPr preferRelativeResize="0"/>
          <p:nvPr/>
        </p:nvPicPr>
        <p:blipFill rotWithShape="1">
          <a:blip r:embed="rId25-created">
            <a:alphaModFix/>
          </a:blip>
          <a:srcRect b="0" l="0" r="0" t="0"/>
          <a:stretch/>
        </p:blipFill>
        <p:spPr>
          <a:xfrm>
            <a:off x="9220200" y="249078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5"/>
          <p:cNvPicPr preferRelativeResize="0"/>
          <p:nvPr/>
        </p:nvPicPr>
        <p:blipFill rotWithShape="1">
          <a:blip r:embed="rId28-created">
            <a:alphaModFix/>
          </a:blip>
          <a:srcRect b="0" l="0" r="0" t="0"/>
          <a:stretch/>
        </p:blipFill>
        <p:spPr>
          <a:xfrm>
            <a:off x="809625" y="3467100"/>
            <a:ext cx="20538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914400" y="378999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000125" y="3790950"/>
            <a:ext cx="464820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Market conditions shifted for tracked categories this cycle.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914400" y="412143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1000125" y="412239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Tracked competitors adjusted pricing across marketplaces.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914400" y="4689068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1000125" y="4690020"/>
            <a:ext cx="4648200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Demand velocity detected for top-performing SKUs.</a:t>
            </a:r>
            <a:endParaRPr/>
          </a:p>
        </p:txBody>
      </p:sp>
      <p:pic>
        <p:nvPicPr>
          <p:cNvPr descr="image.png" id="157" name="Google Shape;157;p15"/>
          <p:cNvPicPr preferRelativeResize="0"/>
          <p:nvPr/>
        </p:nvPicPr>
        <p:blipFill rotWithShape="1">
          <a:blip r:embed="rId27-created">
            <a:alphaModFix/>
          </a:blip>
          <a:srcRect b="0" l="0" r="0" t="0"/>
          <a:stretch/>
        </p:blipFill>
        <p:spPr>
          <a:xfrm>
            <a:off x="6543675" y="3467100"/>
            <a:ext cx="205382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5"/>
          <p:cNvSpPr txBox="1"/>
          <p:nvPr/>
        </p:nvSpPr>
        <p:spPr>
          <a:xfrm>
            <a:off x="6648450" y="378999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734175" y="379095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Review pricing on top SKUs against category median.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6648450" y="4357627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6734175" y="435858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Reorder high-turnover inventory nearing low-stock threshold.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6648450" y="4925258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734175" y="4926210"/>
            <a:ext cx="46482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Expand watchlist coverage to emerging competitors.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Executive Snapshot &amp; Key Signals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6"/>
          <p:cNvPicPr preferRelativeResize="0"/>
          <p:nvPr/>
        </p:nvPicPr>
        <p:blipFill rotWithShape="1">
          <a:blip r:embed="rId16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7-created">
            <a:alphaModFix/>
          </a:blip>
          <a:srcRect b="0" l="0" r="0" t="0"/>
          <a:stretch/>
        </p:blipFill>
        <p:spPr>
          <a:xfrm>
            <a:off x="533400" y="4457551"/>
            <a:ext cx="11125200" cy="9876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6"/>
          <p:cNvPicPr preferRelativeResize="0"/>
          <p:nvPr/>
        </p:nvPicPr>
        <p:blipFill rotWithShape="1">
          <a:blip r:embed="rId19-created">
            <a:alphaModFix/>
          </a:blip>
          <a:srcRect b="0" l="0" r="0" t="0"/>
          <a:stretch/>
        </p:blipFill>
        <p:spPr>
          <a:xfrm>
            <a:off x="533400" y="1666875"/>
            <a:ext cx="5391150" cy="2562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6"/>
          <p:cNvPicPr preferRelativeResize="0"/>
          <p:nvPr/>
        </p:nvPicPr>
        <p:blipFill rotWithShape="1">
          <a:blip r:embed="rId20-created">
            <a:alphaModFix/>
          </a:blip>
          <a:srcRect b="0" l="0" r="0" t="0"/>
          <a:stretch/>
        </p:blipFill>
        <p:spPr>
          <a:xfrm>
            <a:off x="6267450" y="1666875"/>
            <a:ext cx="5391150" cy="2562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6"/>
          <p:cNvPicPr preferRelativeResize="0"/>
          <p:nvPr/>
        </p:nvPicPr>
        <p:blipFill rotWithShape="1">
          <a:blip r:embed="rId21-created">
            <a:alphaModFix/>
          </a:blip>
          <a:srcRect b="0" l="0" r="0" t="0"/>
          <a:stretch/>
        </p:blipFill>
        <p:spPr>
          <a:xfrm>
            <a:off x="838200" y="1943100"/>
            <a:ext cx="6381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6"/>
          <p:cNvPicPr preferRelativeResize="0"/>
          <p:nvPr/>
        </p:nvPicPr>
        <p:blipFill rotWithShape="1">
          <a:blip r:embed="rId22-created">
            <a:alphaModFix/>
          </a:blip>
          <a:srcRect b="0" l="0" r="0" t="0"/>
          <a:stretch/>
        </p:blipFill>
        <p:spPr>
          <a:xfrm>
            <a:off x="6572250" y="1943100"/>
            <a:ext cx="6667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6"/>
          <p:cNvPicPr preferRelativeResize="0"/>
          <p:nvPr/>
        </p:nvPicPr>
        <p:blipFill rotWithShape="1">
          <a:blip r:embed="rId18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533400" y="6296025"/>
            <a:ext cx="12858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Data Protocol v4.2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04</a:t>
            </a:r>
            <a:endParaRPr/>
          </a:p>
        </p:txBody>
      </p:sp>
      <p:pic>
        <p:nvPicPr>
          <p:cNvPr descr="image.png" id="178" name="Google Shape;178;p16"/>
          <p:cNvPicPr preferRelativeResize="0"/>
          <p:nvPr/>
        </p:nvPicPr>
        <p:blipFill rotWithShape="1">
          <a:blip r:embed="rId14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180" name="Google Shape;180;p16"/>
          <p:cNvPicPr preferRelativeResize="0"/>
          <p:nvPr/>
        </p:nvPicPr>
        <p:blipFill rotWithShape="1">
          <a:blip r:embed="rId13-created">
            <a:alphaModFix/>
          </a:blip>
          <a:srcRect b="0" l="0" r="0" t="0"/>
          <a:stretch/>
        </p:blipFill>
        <p:spPr>
          <a:xfrm>
            <a:off x="10572750" y="442912"/>
            <a:ext cx="10858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838200" y="2295525"/>
            <a:ext cx="50506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Backend Draft &amp; Aggregation</a:t>
            </a:r>
            <a:endParaRPr/>
          </a:p>
        </p:txBody>
      </p:sp>
      <p:sp>
        <p:nvSpPr>
          <p:cNvPr id="182" name="Google Shape;182;p16"/>
          <p:cNvSpPr txBox="1"/>
          <p:nvPr/>
        </p:nvSpPr>
        <p:spPr>
          <a:xfrm>
            <a:off x="838200" y="2657475"/>
            <a:ext cx="4810125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Ryvl continuously collects public marketplace pricing, stock levels, and category metrics. Data is processed through statistical outlier filters to eliminate noise.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838200" y="3480345"/>
            <a:ext cx="4810125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ingestion pipeline running 24/7 across 7 major sales channels.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572250" y="2295525"/>
            <a:ext cx="505063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Researcher Insights Review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6572250" y="2657475"/>
            <a:ext cx="4810125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Internal analysts review model findings, scrub uncertain competitor data, and strip raw private records. Only anonymized, highly reliable signals enter the final report.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6572250" y="3480345"/>
            <a:ext cx="48101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4785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Ensures strict compliance with enterprise privacy standards.</a:t>
            </a:r>
            <a:endParaRPr/>
          </a:p>
        </p:txBody>
      </p:sp>
      <p:pic>
        <p:nvPicPr>
          <p:cNvPr descr="image.png" id="187" name="Google Shape;187;p16"/>
          <p:cNvPicPr preferRelativeResize="0"/>
          <p:nvPr/>
        </p:nvPicPr>
        <p:blipFill rotWithShape="1">
          <a:blip r:embed="rId15-created">
            <a:alphaModFix/>
          </a:blip>
          <a:srcRect b="0" l="0" r="0" t="0"/>
          <a:stretch/>
        </p:blipFill>
        <p:spPr>
          <a:xfrm>
            <a:off x="809625" y="4818012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6"/>
          <p:cNvSpPr txBox="1"/>
          <p:nvPr/>
        </p:nvSpPr>
        <p:spPr>
          <a:xfrm>
            <a:off x="1276350" y="4733776"/>
            <a:ext cx="7850981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Client-Safe Export Guarantee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276350" y="4962376"/>
            <a:ext cx="7477125" cy="206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Anything flagged as internal notes or private seller metrics is automatically scrubbed before client PDF/PPTX download.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Validation &amp; Approval Gate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17"/>
          <p:cNvPicPr preferRelativeResize="0"/>
          <p:nvPr/>
        </p:nvPicPr>
        <p:blipFill rotWithShape="1">
          <a:blip r:embed="rId9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7"/>
          <p:cNvPicPr preferRelativeResize="0"/>
          <p:nvPr/>
        </p:nvPicPr>
        <p:blipFill rotWithShape="1">
          <a:blip r:embed="rId10-created">
            <a:alphaModFix/>
          </a:blip>
          <a:srcRect b="0" l="0" r="0" t="0"/>
          <a:stretch/>
        </p:blipFill>
        <p:spPr>
          <a:xfrm>
            <a:off x="533400" y="1666875"/>
            <a:ext cx="11125200" cy="448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7"/>
          <p:cNvPicPr preferRelativeResize="0"/>
          <p:nvPr/>
        </p:nvPicPr>
        <p:blipFill rotWithShape="1">
          <a:blip r:embed="rId11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533400" y="5213895"/>
            <a:ext cx="11125200" cy="19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* Data compiled from 140+ active marketplace sellers in your product category over the past 30 days.</a:t>
            </a:r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533400" y="6296025"/>
            <a:ext cx="15716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Anonymized Cohort Analysis</a:t>
            </a:r>
            <a:endParaRPr/>
          </a:p>
        </p:txBody>
      </p:sp>
      <p:sp>
        <p:nvSpPr>
          <p:cNvPr id="200" name="Google Shape;200;p17"/>
          <p:cNvSpPr txBox="1"/>
          <p:nvPr/>
        </p:nvSpPr>
        <p:spPr>
          <a:xfrm>
            <a:off x="11220450" y="6296025"/>
            <a:ext cx="438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05</a:t>
            </a:r>
            <a:endParaRPr/>
          </a:p>
        </p:txBody>
      </p:sp>
      <p:pic>
        <p:nvPicPr>
          <p:cNvPr descr="image.png" id="201" name="Google Shape;201;p17"/>
          <p:cNvPicPr preferRelativeResize="0"/>
          <p:nvPr/>
        </p:nvPicPr>
        <p:blipFill rotWithShape="1">
          <a:blip r:embed="rId12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7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03" name="Google Shape;203;p17"/>
          <p:cNvPicPr preferRelativeResize="0"/>
          <p:nvPr/>
        </p:nvPicPr>
        <p:blipFill rotWithShape="1">
          <a:blip r:embed="rId13-created">
            <a:alphaModFix/>
          </a:blip>
          <a:srcRect b="0" l="0" r="0" t="0"/>
          <a:stretch/>
        </p:blipFill>
        <p:spPr>
          <a:xfrm>
            <a:off x="10634662" y="442912"/>
            <a:ext cx="1023937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533400" y="1666875"/>
            <a:ext cx="5391150" cy="7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percentile breakdown measures your operational metrics against an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anonymized cohort of category peers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Higher percentiles reflect stronger relative performance.</a:t>
            </a:r>
            <a:endParaRPr/>
          </a:p>
        </p:txBody>
      </p:sp>
      <p:pic>
        <p:nvPicPr>
          <p:cNvPr descr="image.png" id="205" name="Google Shape;205;p17"/>
          <p:cNvPicPr preferRelativeResize="0"/>
          <p:nvPr/>
        </p:nvPicPr>
        <p:blipFill rotWithShape="1">
          <a:blip r:embed="rId14-created">
            <a:alphaModFix/>
          </a:blip>
          <a:srcRect b="0" l="0" r="0" t="0"/>
          <a:stretch/>
        </p:blipFill>
        <p:spPr>
          <a:xfrm>
            <a:off x="9410700" y="1666875"/>
            <a:ext cx="22479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7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Category Positioning Percentiles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18"/>
          <p:cNvPicPr preferRelativeResize="0"/>
          <p:nvPr/>
        </p:nvPicPr>
        <p:blipFill rotWithShape="1">
          <a:blip r:embed="rId12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8"/>
          <p:cNvPicPr preferRelativeResize="0"/>
          <p:nvPr/>
        </p:nvPicPr>
        <p:blipFill rotWithShape="1">
          <a:blip r:embed="rId13-created">
            <a:alphaModFix/>
          </a:blip>
          <a:srcRect b="0" l="0" r="0" t="0"/>
          <a:stretch/>
        </p:blipFill>
        <p:spPr>
          <a:xfrm>
            <a:off x="533400" y="2562225"/>
            <a:ext cx="11125200" cy="3590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8"/>
          <p:cNvPicPr preferRelativeResize="0"/>
          <p:nvPr/>
        </p:nvPicPr>
        <p:blipFill rotWithShape="1">
          <a:blip r:embed="rId15-created">
            <a:alphaModFix/>
          </a:blip>
          <a:srcRect b="0" l="0" r="0" t="0"/>
          <a:stretch/>
        </p:blipFill>
        <p:spPr>
          <a:xfrm>
            <a:off x="533400" y="1666875"/>
            <a:ext cx="53911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8"/>
          <p:cNvPicPr preferRelativeResize="0"/>
          <p:nvPr/>
        </p:nvPicPr>
        <p:blipFill rotWithShape="1">
          <a:blip r:embed="rId16-created">
            <a:alphaModFix/>
          </a:blip>
          <a:srcRect b="0" l="0" r="0" t="0"/>
          <a:stretch/>
        </p:blipFill>
        <p:spPr>
          <a:xfrm>
            <a:off x="6267450" y="1666875"/>
            <a:ext cx="53911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8"/>
          <p:cNvPicPr preferRelativeResize="0"/>
          <p:nvPr/>
        </p:nvPicPr>
        <p:blipFill rotWithShape="1">
          <a:blip r:embed="rId17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8"/>
          <p:cNvSpPr txBox="1"/>
          <p:nvPr/>
        </p:nvSpPr>
        <p:spPr>
          <a:xfrm>
            <a:off x="533400" y="6296025"/>
            <a:ext cx="21145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46E5"/>
                </a:solidFill>
                <a:latin typeface="Inter Medium"/>
                <a:ea typeface="Inter Medium"/>
                <a:cs typeface="Inter Medium"/>
                <a:sym typeface="Inter Medium"/>
              </a:rPr>
              <a:t>— Your Store Price</a:t>
            </a: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 | </a:t>
            </a:r>
            <a:r>
              <a:rPr b="0" i="0" lang="en-US" sz="900" u="none" cap="none" strike="noStrike">
                <a:solidFill>
                  <a:srgbClr val="F59E0B"/>
                </a:solidFill>
                <a:latin typeface="Inter Medium"/>
                <a:ea typeface="Inter Medium"/>
                <a:cs typeface="Inter Medium"/>
                <a:sym typeface="Inter Medium"/>
              </a:rPr>
              <a:t>- - Market Median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06</a:t>
            </a:r>
            <a:endParaRPr/>
          </a:p>
        </p:txBody>
      </p:sp>
      <p:pic>
        <p:nvPicPr>
          <p:cNvPr descr="image.png" id="218" name="Google Shape;218;p18"/>
          <p:cNvPicPr preferRelativeResize="0"/>
          <p:nvPr/>
        </p:nvPicPr>
        <p:blipFill rotWithShape="1">
          <a:blip r:embed="rId18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8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20" name="Google Shape;220;p18"/>
          <p:cNvPicPr preferRelativeResize="0"/>
          <p:nvPr/>
        </p:nvPicPr>
        <p:blipFill rotWithShape="1">
          <a:blip r:embed="rId14-created">
            <a:alphaModFix/>
          </a:blip>
          <a:srcRect b="0" l="0" r="0" t="0"/>
          <a:stretch/>
        </p:blipFill>
        <p:spPr>
          <a:xfrm>
            <a:off x="10029825" y="442912"/>
            <a:ext cx="16287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8"/>
          <p:cNvPicPr preferRelativeResize="0"/>
          <p:nvPr/>
        </p:nvPicPr>
        <p:blipFill rotWithShape="1">
          <a:blip r:embed="rId11-created">
            <a:alphaModFix/>
          </a:blip>
          <a:srcRect b="0" l="0" r="0" t="0"/>
          <a:stretch/>
        </p:blipFill>
        <p:spPr>
          <a:xfrm>
            <a:off x="733425" y="2762250"/>
            <a:ext cx="1072515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733425" y="1828800"/>
            <a:ext cx="4991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YOUR CURRENT PRICE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733425" y="1971675"/>
            <a:ext cx="4991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$24.90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6467475" y="1828800"/>
            <a:ext cx="4991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4338CA"/>
                </a:solidFill>
                <a:latin typeface="Inter"/>
                <a:ea typeface="Inter"/>
                <a:cs typeface="Inter"/>
                <a:sym typeface="Inter"/>
              </a:rPr>
              <a:t>RECOMMENDED OPTIMAL BAND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6467475" y="1971675"/>
            <a:ext cx="4991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F46E5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$25.40 – $26.20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Market Price Trend &amp; Action Band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19"/>
          <p:cNvPicPr preferRelativeResize="0"/>
          <p:nvPr/>
        </p:nvPicPr>
        <p:blipFill rotWithShape="1">
          <a:blip r:embed="rId22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19"/>
          <p:cNvPicPr preferRelativeResize="0"/>
          <p:nvPr/>
        </p:nvPicPr>
        <p:blipFill rotWithShape="1">
          <a:blip r:embed="rId23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/>
          <p:nvPr/>
        </p:nvSpPr>
        <p:spPr>
          <a:xfrm>
            <a:off x="533400" y="1666875"/>
            <a:ext cx="11125200" cy="3139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4" name="Google Shape;234;p19"/>
          <p:cNvGraphicFramePr/>
          <p:nvPr/>
        </p:nvGraphicFramePr>
        <p:xfrm>
          <a:off x="533400" y="1666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{B9619385-9818-4AFC-A509-18FD5C29BBEC}</a:tableStyleId>
              </a:tblPr>
              <a:tblGrid>
                <a:gridCol w="3278825"/>
                <a:gridCol w="1677150"/>
                <a:gridCol w="1919000"/>
                <a:gridCol w="2342100"/>
                <a:gridCol w="1889075"/>
              </a:tblGrid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Tracked Product SKU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Price Delta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Stock State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Category Signal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Risk Level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Lenovo yoga tab (tb710fu), 12gb 256gb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+539.5%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dell g3 3500 for sell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+829.4%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iPad pro m4 13 inch 0327 6625337 WhatsApp contact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+703.0%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IPAD 9TH GENERATION WITH BOX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+413.0%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Apple iPad 11th Gen (A16 Bionic) 128GB Blue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+680.7%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Stable Volume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5" name="Google Shape;235;p19"/>
          <p:cNvSpPr txBox="1"/>
          <p:nvPr/>
        </p:nvSpPr>
        <p:spPr>
          <a:xfrm>
            <a:off x="533400" y="4940200"/>
            <a:ext cx="11125200" cy="191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Public marketplace signals only. Private seller data remains strictly confidential.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533400" y="6296025"/>
            <a:ext cx="18288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Automated Crawler Network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11220450" y="6296025"/>
            <a:ext cx="4381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07</a:t>
            </a:r>
            <a:endParaRPr/>
          </a:p>
        </p:txBody>
      </p:sp>
      <p:pic>
        <p:nvPicPr>
          <p:cNvPr descr="image.png" id="238" name="Google Shape;238;p19"/>
          <p:cNvPicPr preferRelativeResize="0"/>
          <p:nvPr/>
        </p:nvPicPr>
        <p:blipFill rotWithShape="1">
          <a:blip r:embed="rId29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40" name="Google Shape;240;p19"/>
          <p:cNvPicPr preferRelativeResize="0"/>
          <p:nvPr/>
        </p:nvPicPr>
        <p:blipFill rotWithShape="1">
          <a:blip r:embed="rId30-created">
            <a:alphaModFix/>
          </a:blip>
          <a:srcRect b="0" l="0" r="0" t="0"/>
          <a:stretch/>
        </p:blipFill>
        <p:spPr>
          <a:xfrm>
            <a:off x="10296525" y="442912"/>
            <a:ext cx="13620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/>
          <p:nvPr/>
        </p:nvSpPr>
        <p:spPr>
          <a:xfrm>
            <a:off x="542925" y="2149673"/>
            <a:ext cx="3278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821757" y="2149673"/>
            <a:ext cx="16771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5498901" y="2149673"/>
            <a:ext cx="191898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/>
          <p:nvPr/>
        </p:nvSpPr>
        <p:spPr>
          <a:xfrm>
            <a:off x="7417891" y="2149673"/>
            <a:ext cx="23421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9"/>
          <p:cNvSpPr/>
          <p:nvPr/>
        </p:nvSpPr>
        <p:spPr>
          <a:xfrm>
            <a:off x="9759999" y="2149673"/>
            <a:ext cx="18890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6" name="Google Shape;246;p19"/>
          <p:cNvPicPr preferRelativeResize="0"/>
          <p:nvPr/>
        </p:nvPicPr>
        <p:blipFill rotWithShape="1">
          <a:blip r:embed="rId31-created">
            <a:alphaModFix/>
          </a:blip>
          <a:srcRect b="0" l="0" r="0" t="0"/>
          <a:stretch/>
        </p:blipFill>
        <p:spPr>
          <a:xfrm>
            <a:off x="533400" y="4978300"/>
            <a:ext cx="10477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/>
          <p:nvPr/>
        </p:nvSpPr>
        <p:spPr>
          <a:xfrm>
            <a:off x="542925" y="2679203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821757" y="2679203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/>
          <p:nvPr/>
        </p:nvSpPr>
        <p:spPr>
          <a:xfrm>
            <a:off x="5498901" y="2679203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7417891" y="2679203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/>
          <p:nvPr/>
        </p:nvSpPr>
        <p:spPr>
          <a:xfrm>
            <a:off x="9759999" y="2679203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542925" y="3208734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821757" y="3208734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5498901" y="3208734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/>
          <p:nvPr/>
        </p:nvSpPr>
        <p:spPr>
          <a:xfrm>
            <a:off x="7417891" y="3208734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9"/>
          <p:cNvSpPr/>
          <p:nvPr/>
        </p:nvSpPr>
        <p:spPr>
          <a:xfrm>
            <a:off x="9759999" y="3208734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9"/>
          <p:cNvSpPr/>
          <p:nvPr/>
        </p:nvSpPr>
        <p:spPr>
          <a:xfrm>
            <a:off x="542925" y="3738264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3821757" y="3738264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/>
          <p:nvPr/>
        </p:nvSpPr>
        <p:spPr>
          <a:xfrm>
            <a:off x="5498901" y="3738264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7417891" y="3738264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9759999" y="3738264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542925" y="4267795"/>
            <a:ext cx="3278832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3821757" y="4267795"/>
            <a:ext cx="1677144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9"/>
          <p:cNvSpPr/>
          <p:nvPr/>
        </p:nvSpPr>
        <p:spPr>
          <a:xfrm>
            <a:off x="5498901" y="4267795"/>
            <a:ext cx="1918989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7417891" y="4267795"/>
            <a:ext cx="234210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/>
          <p:nvPr/>
        </p:nvSpPr>
        <p:spPr>
          <a:xfrm>
            <a:off x="9759999" y="4267795"/>
            <a:ext cx="1889075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 Marketplace SKU Tracking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0"/>
          <p:cNvPicPr preferRelativeResize="0"/>
          <p:nvPr/>
        </p:nvPicPr>
        <p:blipFill rotWithShape="1">
          <a:blip r:embed="rId9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0"/>
          <p:cNvPicPr preferRelativeResize="0"/>
          <p:nvPr/>
        </p:nvPicPr>
        <p:blipFill rotWithShape="1">
          <a:blip r:embed="rId10-created">
            <a:alphaModFix/>
          </a:blip>
          <a:srcRect b="0" l="0" r="0" t="0"/>
          <a:stretch/>
        </p:blipFill>
        <p:spPr>
          <a:xfrm>
            <a:off x="6267450" y="1666875"/>
            <a:ext cx="5391150" cy="34986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0"/>
          <p:cNvPicPr preferRelativeResize="0"/>
          <p:nvPr/>
        </p:nvPicPr>
        <p:blipFill rotWithShape="1">
          <a:blip r:embed="rId11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0"/>
          <p:cNvSpPr txBox="1"/>
          <p:nvPr/>
        </p:nvSpPr>
        <p:spPr>
          <a:xfrm>
            <a:off x="533400" y="629602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Inventory Optimization Module</a:t>
            </a:r>
            <a:endParaRPr/>
          </a:p>
        </p:txBody>
      </p:sp>
      <p:sp>
        <p:nvSpPr>
          <p:cNvPr id="286" name="Google Shape;286;p20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08</a:t>
            </a:r>
            <a:endParaRPr/>
          </a:p>
        </p:txBody>
      </p:sp>
      <p:pic>
        <p:nvPicPr>
          <p:cNvPr descr="image.png" id="287" name="Google Shape;287;p20"/>
          <p:cNvPicPr preferRelativeResize="0"/>
          <p:nvPr/>
        </p:nvPicPr>
        <p:blipFill rotWithShape="1">
          <a:blip r:embed="rId12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289" name="Google Shape;289;p20"/>
          <p:cNvPicPr preferRelativeResize="0"/>
          <p:nvPr/>
        </p:nvPicPr>
        <p:blipFill rotWithShape="1">
          <a:blip r:embed="rId13-created">
            <a:alphaModFix/>
          </a:blip>
          <a:srcRect b="0" l="0" r="0" t="0"/>
          <a:stretch/>
        </p:blipFill>
        <p:spPr>
          <a:xfrm>
            <a:off x="10515600" y="442912"/>
            <a:ext cx="11430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0"/>
          <p:cNvSpPr txBox="1"/>
          <p:nvPr/>
        </p:nvSpPr>
        <p:spPr>
          <a:xfrm>
            <a:off x="638175" y="2213312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723900" y="2214264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Early Stockout Warnings: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Ryvl identifies low-stock velocity 5 to 7 days before total depletion across marketplace fulfillment nodes.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638175" y="2857142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723900" y="2858095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Capturing Supply Voids: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When key category rivals suffer out-of-stock events, our automated alerts signal optimal price increase windows.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638175" y="3500973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0"/>
          <p:cNvSpPr txBox="1"/>
          <p:nvPr/>
        </p:nvSpPr>
        <p:spPr>
          <a:xfrm>
            <a:off x="723900" y="3501925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Fulfillment Efficiency: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Aligning reorder schedules with peak category search volume prevents costly stock pauses.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638175" y="4144803"/>
            <a:ext cx="857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723900" y="4145756"/>
            <a:ext cx="520065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Margin Safety Net: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Safeguards your minimum threshold price during automated dynamic repricing campaigns.</a:t>
            </a:r>
            <a:endParaRPr/>
          </a:p>
        </p:txBody>
      </p:sp>
      <p:pic>
        <p:nvPicPr>
          <p:cNvPr descr="image.png" id="298" name="Google Shape;298;p20"/>
          <p:cNvPicPr preferRelativeResize="0"/>
          <p:nvPr/>
        </p:nvPicPr>
        <p:blipFill rotWithShape="1">
          <a:blip r:embed="rId14-created">
            <a:alphaModFix/>
          </a:blip>
          <a:srcRect b="0" l="0" r="0" t="0"/>
          <a:stretch/>
        </p:blipFill>
        <p:spPr>
          <a:xfrm>
            <a:off x="6276975" y="1676400"/>
            <a:ext cx="5372100" cy="3479601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0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Inventory &amp; Demand Velocity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21"/>
          <p:cNvPicPr preferRelativeResize="0"/>
          <p:nvPr/>
        </p:nvPicPr>
        <p:blipFill rotWithShape="1">
          <a:blip r:embed="rId18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1"/>
          <p:cNvPicPr preferRelativeResize="0"/>
          <p:nvPr/>
        </p:nvPicPr>
        <p:blipFill rotWithShape="1">
          <a:blip r:embed="rId19-created">
            <a:alphaModFix/>
          </a:blip>
          <a:srcRect b="0" l="0" r="0" t="0"/>
          <a:stretch/>
        </p:blipFill>
        <p:spPr>
          <a:xfrm>
            <a:off x="533400" y="4978300"/>
            <a:ext cx="111252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1"/>
          <p:cNvPicPr preferRelativeResize="0"/>
          <p:nvPr/>
        </p:nvPicPr>
        <p:blipFill rotWithShape="1">
          <a:blip r:embed="rId21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/>
          <p:nvPr/>
        </p:nvSpPr>
        <p:spPr>
          <a:xfrm>
            <a:off x="533400" y="1666875"/>
            <a:ext cx="11125200" cy="313997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21"/>
          <p:cNvGraphicFramePr/>
          <p:nvPr/>
        </p:nvGraphicFramePr>
        <p:xfrm>
          <a:off x="533400" y="1666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{B9619385-9818-4AFC-A509-18FD5C29BBEC}</a:tableStyleId>
              </a:tblPr>
              <a:tblGrid>
                <a:gridCol w="2561925"/>
                <a:gridCol w="1728925"/>
                <a:gridCol w="1413425"/>
                <a:gridCol w="1350325"/>
                <a:gridCol w="4051550"/>
              </a:tblGrid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Product Line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Revenue Share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Price Index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Stock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Strategic Action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1600 cc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F46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87%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13384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Review pricing - trailing above median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Laptops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4F46E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654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Review pricing - trailing above median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RTX 4070 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2478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Review pricing - trailing above median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Pepso 1 LTR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Raise price range toward category median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AFA"/>
                    </a:solidFill>
                  </a:tcPr>
                </a:tc>
              </a:tr>
              <a:tr h="523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Fuel Injectors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10B98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Raise price range toward category median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21"/>
          <p:cNvSpPr txBox="1"/>
          <p:nvPr/>
        </p:nvSpPr>
        <p:spPr>
          <a:xfrm>
            <a:off x="533400" y="6296025"/>
            <a:ext cx="16002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Portfolio Performance Matrix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11210925" y="6296025"/>
            <a:ext cx="4476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09</a:t>
            </a:r>
            <a:endParaRPr/>
          </a:p>
        </p:txBody>
      </p:sp>
      <p:pic>
        <p:nvPicPr>
          <p:cNvPr descr="image.png" id="311" name="Google Shape;311;p21"/>
          <p:cNvPicPr preferRelativeResize="0"/>
          <p:nvPr/>
        </p:nvPicPr>
        <p:blipFill rotWithShape="1">
          <a:blip r:embed="rId22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1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313" name="Google Shape;313;p21"/>
          <p:cNvPicPr preferRelativeResize="0"/>
          <p:nvPr/>
        </p:nvPicPr>
        <p:blipFill rotWithShape="1">
          <a:blip r:embed="rId23-created">
            <a:alphaModFix/>
          </a:blip>
          <a:srcRect b="0" l="0" r="0" t="0"/>
          <a:stretch/>
        </p:blipFill>
        <p:spPr>
          <a:xfrm>
            <a:off x="10086975" y="442912"/>
            <a:ext cx="15716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1"/>
          <p:cNvSpPr/>
          <p:nvPr/>
        </p:nvSpPr>
        <p:spPr>
          <a:xfrm>
            <a:off x="542925" y="2149673"/>
            <a:ext cx="256192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3104852" y="2149673"/>
            <a:ext cx="17289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4833788" y="2149673"/>
            <a:ext cx="141342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6247209" y="2149673"/>
            <a:ext cx="13503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7597526" y="2149673"/>
            <a:ext cx="405154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542925" y="2679203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/>
          <p:nvPr/>
        </p:nvSpPr>
        <p:spPr>
          <a:xfrm>
            <a:off x="3104852" y="2679203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1"/>
          <p:cNvSpPr/>
          <p:nvPr/>
        </p:nvSpPr>
        <p:spPr>
          <a:xfrm>
            <a:off x="4833788" y="2679203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6247209" y="2679203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7597526" y="2679203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/>
          <p:nvPr/>
        </p:nvSpPr>
        <p:spPr>
          <a:xfrm>
            <a:off x="542925" y="3208734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3104852" y="3208734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4833788" y="3208734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6247209" y="3208734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7597526" y="3208734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/>
          <p:nvPr/>
        </p:nvSpPr>
        <p:spPr>
          <a:xfrm>
            <a:off x="542925" y="3738264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1"/>
          <p:cNvSpPr/>
          <p:nvPr/>
        </p:nvSpPr>
        <p:spPr>
          <a:xfrm>
            <a:off x="3104852" y="3738264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1"/>
          <p:cNvSpPr/>
          <p:nvPr/>
        </p:nvSpPr>
        <p:spPr>
          <a:xfrm>
            <a:off x="4833788" y="3738264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6247209" y="3738264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/>
          <p:nvPr/>
        </p:nvSpPr>
        <p:spPr>
          <a:xfrm>
            <a:off x="7597526" y="3738264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1"/>
          <p:cNvSpPr/>
          <p:nvPr/>
        </p:nvSpPr>
        <p:spPr>
          <a:xfrm>
            <a:off x="542925" y="4267795"/>
            <a:ext cx="256192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1"/>
          <p:cNvSpPr/>
          <p:nvPr/>
        </p:nvSpPr>
        <p:spPr>
          <a:xfrm>
            <a:off x="3104852" y="4267795"/>
            <a:ext cx="1728936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1"/>
          <p:cNvSpPr/>
          <p:nvPr/>
        </p:nvSpPr>
        <p:spPr>
          <a:xfrm>
            <a:off x="4833788" y="4267795"/>
            <a:ext cx="1413420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1"/>
          <p:cNvSpPr/>
          <p:nvPr/>
        </p:nvSpPr>
        <p:spPr>
          <a:xfrm>
            <a:off x="6247209" y="4267795"/>
            <a:ext cx="1350317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1"/>
          <p:cNvSpPr/>
          <p:nvPr/>
        </p:nvSpPr>
        <p:spPr>
          <a:xfrm>
            <a:off x="7597526" y="4267795"/>
            <a:ext cx="4051548" cy="9525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771525" y="5173563"/>
            <a:ext cx="6791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Key Insight:  Top 2 product lines generate 96% of revenue. Securing inventory for 1600 cc is a priority.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pic>
        <p:nvPicPr>
          <p:cNvPr descr="image.png" id="340" name="Google Shape;340;p21"/>
          <p:cNvPicPr preferRelativeResize="0"/>
          <p:nvPr/>
        </p:nvPicPr>
        <p:blipFill rotWithShape="1">
          <a:blip r:embed="rId24-created">
            <a:alphaModFix/>
          </a:blip>
          <a:srcRect b="0" l="0" r="0" t="0"/>
          <a:stretch/>
        </p:blipFill>
        <p:spPr>
          <a:xfrm>
            <a:off x="10448925" y="5159275"/>
            <a:ext cx="971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1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Product Portfolio Revenue Contribution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22"/>
          <p:cNvPicPr preferRelativeResize="0"/>
          <p:nvPr/>
        </p:nvPicPr>
        <p:blipFill rotWithShape="1">
          <a:blip r:embed="rId20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2"/>
          <p:cNvPicPr preferRelativeResize="0"/>
          <p:nvPr/>
        </p:nvPicPr>
        <p:blipFill rotWithShape="1">
          <a:blip r:embed="rId21-created">
            <a:alphaModFix/>
          </a:blip>
          <a:srcRect b="0" l="0" r="0" t="0"/>
          <a:stretch/>
        </p:blipFill>
        <p:spPr>
          <a:xfrm>
            <a:off x="533400" y="1666875"/>
            <a:ext cx="3555950" cy="238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2"/>
          <p:cNvPicPr preferRelativeResize="0"/>
          <p:nvPr/>
        </p:nvPicPr>
        <p:blipFill rotWithShape="1">
          <a:blip r:embed="rId25-created">
            <a:alphaModFix/>
          </a:blip>
          <a:srcRect b="0" l="0" r="0" t="0"/>
          <a:stretch/>
        </p:blipFill>
        <p:spPr>
          <a:xfrm>
            <a:off x="4317950" y="1666875"/>
            <a:ext cx="3555950" cy="238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22"/>
          <p:cNvPicPr preferRelativeResize="0"/>
          <p:nvPr/>
        </p:nvPicPr>
        <p:blipFill rotWithShape="1">
          <a:blip r:embed="rId26-created">
            <a:alphaModFix/>
          </a:blip>
          <a:srcRect b="0" l="0" r="0" t="0"/>
          <a:stretch/>
        </p:blipFill>
        <p:spPr>
          <a:xfrm>
            <a:off x="8102500" y="1666875"/>
            <a:ext cx="3556099" cy="2381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22"/>
          <p:cNvPicPr preferRelativeResize="0"/>
          <p:nvPr/>
        </p:nvPicPr>
        <p:blipFill rotWithShape="1">
          <a:blip r:embed="rId27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2"/>
          <p:cNvSpPr txBox="1"/>
          <p:nvPr/>
        </p:nvSpPr>
        <p:spPr>
          <a:xfrm>
            <a:off x="533400" y="6296025"/>
            <a:ext cx="17621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Ryvl Customer Analytics Module</a:t>
            </a:r>
            <a:endParaRPr/>
          </a:p>
        </p:txBody>
      </p:sp>
      <p:sp>
        <p:nvSpPr>
          <p:cNvPr id="357" name="Google Shape;357;p22"/>
          <p:cNvSpPr txBox="1"/>
          <p:nvPr/>
        </p:nvSpPr>
        <p:spPr>
          <a:xfrm>
            <a:off x="11239500" y="6296025"/>
            <a:ext cx="4191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10</a:t>
            </a:r>
            <a:endParaRPr/>
          </a:p>
        </p:txBody>
      </p:sp>
      <p:pic>
        <p:nvPicPr>
          <p:cNvPr descr="image.png" id="358" name="Google Shape;358;p22"/>
          <p:cNvPicPr preferRelativeResize="0"/>
          <p:nvPr/>
        </p:nvPicPr>
        <p:blipFill rotWithShape="1">
          <a:blip r:embed="rId28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2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360" name="Google Shape;360;p22"/>
          <p:cNvPicPr preferRelativeResize="0"/>
          <p:nvPr/>
        </p:nvPicPr>
        <p:blipFill rotWithShape="1">
          <a:blip r:embed="rId22-created">
            <a:alphaModFix/>
          </a:blip>
          <a:srcRect b="0" l="0" r="0" t="0"/>
          <a:stretch/>
        </p:blipFill>
        <p:spPr>
          <a:xfrm>
            <a:off x="10739437" y="442912"/>
            <a:ext cx="919162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1" name="Google Shape;361;p22"/>
          <p:cNvPicPr preferRelativeResize="0"/>
          <p:nvPr/>
        </p:nvPicPr>
        <p:blipFill rotWithShape="1">
          <a:blip r:embed="rId17-created">
            <a:alphaModFix/>
          </a:blip>
          <a:srcRect b="0" l="0" r="0" t="0"/>
          <a:stretch/>
        </p:blipFill>
        <p:spPr>
          <a:xfrm>
            <a:off x="77152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2"/>
          <p:cNvSpPr txBox="1"/>
          <p:nvPr/>
        </p:nvSpPr>
        <p:spPr>
          <a:xfrm>
            <a:off x="771525" y="2562225"/>
            <a:ext cx="32336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Win-Back Segment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771525" y="2924175"/>
            <a:ext cx="3079700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Identify 0 accounts inactive over the last 30 days. Trigger automated targeted re-engagement offers before complete churn.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771525" y="3658195"/>
            <a:ext cx="3079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Target: 18% Recovery</a:t>
            </a:r>
            <a:endParaRPr/>
          </a:p>
        </p:txBody>
      </p:sp>
      <p:pic>
        <p:nvPicPr>
          <p:cNvPr descr="image.png" id="365" name="Google Shape;365;p22"/>
          <p:cNvPicPr preferRelativeResize="0"/>
          <p:nvPr/>
        </p:nvPicPr>
        <p:blipFill rotWithShape="1">
          <a:blip r:embed="rId16-created">
            <a:alphaModFix/>
          </a:blip>
          <a:srcRect b="0" l="0" r="0" t="0"/>
          <a:stretch/>
        </p:blipFill>
        <p:spPr>
          <a:xfrm>
            <a:off x="455607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4556075" y="2562225"/>
            <a:ext cx="323368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Bundle Expansion</a:t>
            </a:r>
            <a:endParaRPr/>
          </a:p>
        </p:txBody>
      </p:sp>
      <p:sp>
        <p:nvSpPr>
          <p:cNvPr id="367" name="Google Shape;367;p22"/>
          <p:cNvSpPr txBox="1"/>
          <p:nvPr/>
        </p:nvSpPr>
        <p:spPr>
          <a:xfrm>
            <a:off x="4556075" y="2924175"/>
            <a:ext cx="3079700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1600 cc is a strong candidate for bundling with complementary items in your catalog. Creating bundle kits can help boost average order value.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4556075" y="3658195"/>
            <a:ext cx="30797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47857"/>
                </a:solidFill>
                <a:latin typeface="Inter"/>
                <a:ea typeface="Inter"/>
                <a:cs typeface="Inter"/>
                <a:sym typeface="Inter"/>
              </a:rPr>
              <a:t>Target: +$3.40 AOV</a:t>
            </a:r>
            <a:endParaRPr/>
          </a:p>
        </p:txBody>
      </p:sp>
      <p:pic>
        <p:nvPicPr>
          <p:cNvPr descr="image.png" id="369" name="Google Shape;369;p22"/>
          <p:cNvPicPr preferRelativeResize="0"/>
          <p:nvPr/>
        </p:nvPicPr>
        <p:blipFill rotWithShape="1">
          <a:blip r:embed="rId19-created">
            <a:alphaModFix/>
          </a:blip>
          <a:srcRect b="0" l="0" r="0" t="0"/>
          <a:stretch/>
        </p:blipFill>
        <p:spPr>
          <a:xfrm>
            <a:off x="8340625" y="193357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2"/>
          <p:cNvSpPr txBox="1"/>
          <p:nvPr/>
        </p:nvSpPr>
        <p:spPr>
          <a:xfrm>
            <a:off x="8340625" y="2562225"/>
            <a:ext cx="323384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Margin Protection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8340625" y="2924175"/>
            <a:ext cx="3079849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Limit promotional discount codes strictly to high-LTV at-risk customer cohorts to prevent unnecessary margin erosion.</a:t>
            </a:r>
            <a:endParaRPr/>
          </a:p>
        </p:txBody>
      </p:sp>
      <p:sp>
        <p:nvSpPr>
          <p:cNvPr id="372" name="Google Shape;372;p22"/>
          <p:cNvSpPr txBox="1"/>
          <p:nvPr/>
        </p:nvSpPr>
        <p:spPr>
          <a:xfrm>
            <a:off x="8340625" y="3658195"/>
            <a:ext cx="3079849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B45309"/>
                </a:solidFill>
                <a:latin typeface="Inter"/>
                <a:ea typeface="Inter"/>
                <a:cs typeface="Inter"/>
                <a:sym typeface="Inter"/>
              </a:rPr>
              <a:t>Target: Protect Gross Margin</a:t>
            </a:r>
            <a:endParaRPr/>
          </a:p>
        </p:txBody>
      </p:sp>
      <p:pic>
        <p:nvPicPr>
          <p:cNvPr descr="image.png" id="373" name="Google Shape;373;p22"/>
          <p:cNvPicPr preferRelativeResize="0"/>
          <p:nvPr/>
        </p:nvPicPr>
        <p:blipFill rotWithShape="1">
          <a:blip r:embed="rId18-created">
            <a:alphaModFix/>
          </a:blip>
          <a:srcRect b="0" l="0" r="0" t="0"/>
          <a:stretch/>
        </p:blipFill>
        <p:spPr>
          <a:xfrm>
            <a:off x="866775" y="2057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22"/>
          <p:cNvPicPr preferRelativeResize="0"/>
          <p:nvPr/>
        </p:nvPicPr>
        <p:blipFill rotWithShape="1">
          <a:blip r:embed="rId24-created">
            <a:alphaModFix/>
          </a:blip>
          <a:srcRect b="0" l="0" r="0" t="0"/>
          <a:stretch/>
        </p:blipFill>
        <p:spPr>
          <a:xfrm>
            <a:off x="4651325" y="2057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22"/>
          <p:cNvPicPr preferRelativeResize="0"/>
          <p:nvPr/>
        </p:nvPicPr>
        <p:blipFill rotWithShape="1">
          <a:blip r:embed="rId23-created">
            <a:alphaModFix/>
          </a:blip>
          <a:srcRect b="0" l="0" r="0" t="0"/>
          <a:stretch/>
        </p:blipFill>
        <p:spPr>
          <a:xfrm>
            <a:off x="8464450" y="2057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Customer Health &amp; LTV Strategy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1" name="Google Shape;381;p23"/>
          <p:cNvPicPr preferRelativeResize="0"/>
          <p:nvPr/>
        </p:nvPicPr>
        <p:blipFill rotWithShape="1">
          <a:blip r:embed="rId16-created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23"/>
          <p:cNvPicPr preferRelativeResize="0"/>
          <p:nvPr/>
        </p:nvPicPr>
        <p:blipFill rotWithShape="1">
          <a:blip r:embed="rId17-created">
            <a:alphaModFix/>
          </a:blip>
          <a:srcRect b="0" l="0" r="0" t="0"/>
          <a:stretch/>
        </p:blipFill>
        <p:spPr>
          <a:xfrm>
            <a:off x="533400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23"/>
          <p:cNvPicPr preferRelativeResize="0"/>
          <p:nvPr/>
        </p:nvPicPr>
        <p:blipFill rotWithShape="1">
          <a:blip r:embed="rId19-created">
            <a:alphaModFix/>
          </a:blip>
          <a:srcRect b="0" l="0" r="0" t="0"/>
          <a:stretch/>
        </p:blipFill>
        <p:spPr>
          <a:xfrm>
            <a:off x="3362325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23"/>
          <p:cNvPicPr preferRelativeResize="0"/>
          <p:nvPr/>
        </p:nvPicPr>
        <p:blipFill rotWithShape="1">
          <a:blip r:embed="rId19-created">
            <a:alphaModFix/>
          </a:blip>
          <a:srcRect b="0" l="0" r="0" t="0"/>
          <a:stretch/>
        </p:blipFill>
        <p:spPr>
          <a:xfrm>
            <a:off x="6191250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23"/>
          <p:cNvPicPr preferRelativeResize="0"/>
          <p:nvPr/>
        </p:nvPicPr>
        <p:blipFill rotWithShape="1">
          <a:blip r:embed="rId19-created">
            <a:alphaModFix/>
          </a:blip>
          <a:srcRect b="0" l="0" r="0" t="0"/>
          <a:stretch/>
        </p:blipFill>
        <p:spPr>
          <a:xfrm>
            <a:off x="9020175" y="1857375"/>
            <a:ext cx="2638425" cy="20008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23"/>
          <p:cNvPicPr preferRelativeResize="0"/>
          <p:nvPr/>
        </p:nvPicPr>
        <p:blipFill rotWithShape="1">
          <a:blip r:embed="rId20-created">
            <a:alphaModFix/>
          </a:blip>
          <a:srcRect b="0" l="0" r="0" t="0"/>
          <a:stretch/>
        </p:blipFill>
        <p:spPr>
          <a:xfrm>
            <a:off x="733425" y="3401020"/>
            <a:ext cx="6858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23"/>
          <p:cNvPicPr preferRelativeResize="0"/>
          <p:nvPr/>
        </p:nvPicPr>
        <p:blipFill rotWithShape="1">
          <a:blip r:embed="rId21-created">
            <a:alphaModFix/>
          </a:blip>
          <a:srcRect b="0" l="0" r="0" t="0"/>
          <a:stretch/>
        </p:blipFill>
        <p:spPr>
          <a:xfrm>
            <a:off x="3562350" y="3401020"/>
            <a:ext cx="7143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23"/>
          <p:cNvPicPr preferRelativeResize="0"/>
          <p:nvPr/>
        </p:nvPicPr>
        <p:blipFill rotWithShape="1">
          <a:blip r:embed="rId22-created">
            <a:alphaModFix/>
          </a:blip>
          <a:srcRect b="0" l="0" r="0" t="0"/>
          <a:stretch/>
        </p:blipFill>
        <p:spPr>
          <a:xfrm>
            <a:off x="6391275" y="3401020"/>
            <a:ext cx="7143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9" name="Google Shape;389;p23"/>
          <p:cNvPicPr preferRelativeResize="0"/>
          <p:nvPr/>
        </p:nvPicPr>
        <p:blipFill rotWithShape="1">
          <a:blip r:embed="rId18-created">
            <a:alphaModFix/>
          </a:blip>
          <a:srcRect b="0" l="0" r="0" t="0"/>
          <a:stretch/>
        </p:blipFill>
        <p:spPr>
          <a:xfrm>
            <a:off x="9220200" y="3401020"/>
            <a:ext cx="7143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" name="Google Shape;390;p23"/>
          <p:cNvPicPr preferRelativeResize="0"/>
          <p:nvPr/>
        </p:nvPicPr>
        <p:blipFill rotWithShape="1">
          <a:blip r:embed="rId14-created">
            <a:alphaModFix/>
          </a:blip>
          <a:srcRect b="0" l="0" r="0" t="0"/>
          <a:stretch/>
        </p:blipFill>
        <p:spPr>
          <a:xfrm>
            <a:off x="533400" y="6153150"/>
            <a:ext cx="111252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3"/>
          <p:cNvSpPr txBox="1"/>
          <p:nvPr/>
        </p:nvSpPr>
        <p:spPr>
          <a:xfrm>
            <a:off x="533400" y="6296025"/>
            <a:ext cx="137160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Execution Planning Guide</a:t>
            </a:r>
            <a:endParaRPr/>
          </a:p>
        </p:txBody>
      </p:sp>
      <p:sp>
        <p:nvSpPr>
          <p:cNvPr id="392" name="Google Shape;392;p23"/>
          <p:cNvSpPr txBox="1"/>
          <p:nvPr/>
        </p:nvSpPr>
        <p:spPr>
          <a:xfrm>
            <a:off x="11268075" y="6296025"/>
            <a:ext cx="3905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Slide 11</a:t>
            </a:r>
            <a:endParaRPr/>
          </a:p>
        </p:txBody>
      </p:sp>
      <p:pic>
        <p:nvPicPr>
          <p:cNvPr descr="image.png" id="393" name="Google Shape;393;p23"/>
          <p:cNvPicPr preferRelativeResize="0"/>
          <p:nvPr/>
        </p:nvPicPr>
        <p:blipFill rotWithShape="1">
          <a:blip r:embed="rId13-created">
            <a:alphaModFix/>
          </a:blip>
          <a:srcRect b="0" l="0" r="0" t="0"/>
          <a:stretch/>
        </p:blipFill>
        <p:spPr>
          <a:xfrm>
            <a:off x="533400" y="41910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3"/>
          <p:cNvSpPr txBox="1"/>
          <p:nvPr/>
        </p:nvSpPr>
        <p:spPr>
          <a:xfrm>
            <a:off x="914400" y="419100"/>
            <a:ext cx="700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Ryvl</a:t>
            </a:r>
            <a:endParaRPr/>
          </a:p>
        </p:txBody>
      </p:sp>
      <p:pic>
        <p:nvPicPr>
          <p:cNvPr descr="image.png" id="395" name="Google Shape;395;p23"/>
          <p:cNvPicPr preferRelativeResize="0"/>
          <p:nvPr/>
        </p:nvPicPr>
        <p:blipFill rotWithShape="1">
          <a:blip r:embed="rId15-created">
            <a:alphaModFix/>
          </a:blip>
          <a:srcRect b="0" l="0" r="0" t="0"/>
          <a:stretch/>
        </p:blipFill>
        <p:spPr>
          <a:xfrm>
            <a:off x="10806112" y="442912"/>
            <a:ext cx="852487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3"/>
          <p:cNvSpPr txBox="1"/>
          <p:nvPr/>
        </p:nvSpPr>
        <p:spPr>
          <a:xfrm>
            <a:off x="733425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01</a:t>
            </a:r>
            <a:endParaRPr/>
          </a:p>
        </p:txBody>
      </p:sp>
      <p:sp>
        <p:nvSpPr>
          <p:cNvPr id="397" name="Google Shape;397;p23"/>
          <p:cNvSpPr txBox="1"/>
          <p:nvPr/>
        </p:nvSpPr>
        <p:spPr>
          <a:xfrm>
            <a:off x="733425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Price Adjustment</a:t>
            </a:r>
            <a:endParaRPr/>
          </a:p>
        </p:txBody>
      </p:sp>
      <p:sp>
        <p:nvSpPr>
          <p:cNvPr id="398" name="Google Shape;398;p23"/>
          <p:cNvSpPr txBox="1"/>
          <p:nvPr/>
        </p:nvSpPr>
        <p:spPr>
          <a:xfrm>
            <a:off x="733425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recommended price ranges for top tier SKUs to capture immediate revenue lift.</a:t>
            </a:r>
            <a:endParaRPr/>
          </a:p>
        </p:txBody>
      </p:sp>
      <p:sp>
        <p:nvSpPr>
          <p:cNvPr id="399" name="Google Shape;399;p23"/>
          <p:cNvSpPr txBox="1"/>
          <p:nvPr/>
        </p:nvSpPr>
        <p:spPr>
          <a:xfrm>
            <a:off x="3562350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02</a:t>
            </a:r>
            <a:endParaRPr/>
          </a:p>
        </p:txBody>
      </p:sp>
      <p:sp>
        <p:nvSpPr>
          <p:cNvPr id="400" name="Google Shape;400;p23"/>
          <p:cNvSpPr txBox="1"/>
          <p:nvPr/>
        </p:nvSpPr>
        <p:spPr>
          <a:xfrm>
            <a:off x="3562350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Stock Rebalancing</a:t>
            </a:r>
            <a:endParaRPr/>
          </a:p>
        </p:txBody>
      </p:sp>
      <p:sp>
        <p:nvSpPr>
          <p:cNvPr id="401" name="Google Shape;401;p23"/>
          <p:cNvSpPr txBox="1"/>
          <p:nvPr/>
        </p:nvSpPr>
        <p:spPr>
          <a:xfrm>
            <a:off x="3562350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Reorder high-turnover inventory items to mitigate predicted stockout risks.</a:t>
            </a:r>
            <a:endParaRPr/>
          </a:p>
        </p:txBody>
      </p:sp>
      <p:sp>
        <p:nvSpPr>
          <p:cNvPr id="402" name="Google Shape;402;p23"/>
          <p:cNvSpPr txBox="1"/>
          <p:nvPr/>
        </p:nvSpPr>
        <p:spPr>
          <a:xfrm>
            <a:off x="6391275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03</a:t>
            </a:r>
            <a:endParaRPr/>
          </a:p>
        </p:txBody>
      </p:sp>
      <p:sp>
        <p:nvSpPr>
          <p:cNvPr id="403" name="Google Shape;403;p23"/>
          <p:cNvSpPr txBox="1"/>
          <p:nvPr/>
        </p:nvSpPr>
        <p:spPr>
          <a:xfrm>
            <a:off x="6391275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Watchlist Scale</a:t>
            </a:r>
            <a:endParaRPr/>
          </a:p>
        </p:txBody>
      </p:sp>
      <p:sp>
        <p:nvSpPr>
          <p:cNvPr id="404" name="Google Shape;404;p23"/>
          <p:cNvSpPr txBox="1"/>
          <p:nvPr/>
        </p:nvSpPr>
        <p:spPr>
          <a:xfrm>
            <a:off x="6391275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Expand tracking to 5 additional category competitors to capture emerging market shifts.</a:t>
            </a:r>
            <a:endParaRPr/>
          </a:p>
        </p:txBody>
      </p:sp>
      <p:sp>
        <p:nvSpPr>
          <p:cNvPr id="405" name="Google Shape;405;p23"/>
          <p:cNvSpPr txBox="1"/>
          <p:nvPr/>
        </p:nvSpPr>
        <p:spPr>
          <a:xfrm>
            <a:off x="9220200" y="2124075"/>
            <a:ext cx="22383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F46E5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PHASE 04</a:t>
            </a:r>
            <a:endParaRPr/>
          </a:p>
        </p:txBody>
      </p:sp>
      <p:sp>
        <p:nvSpPr>
          <p:cNvPr id="406" name="Google Shape;406;p23"/>
          <p:cNvSpPr txBox="1"/>
          <p:nvPr/>
        </p:nvSpPr>
        <p:spPr>
          <a:xfrm>
            <a:off x="9220200" y="2371725"/>
            <a:ext cx="23502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Retention Blitz</a:t>
            </a:r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9220200" y="2667000"/>
            <a:ext cx="2238375" cy="61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Launch automated win-back and bundle offers to maximize customer repeat LTV.</a:t>
            </a:r>
            <a:endParaRPr/>
          </a:p>
        </p:txBody>
      </p:sp>
      <p:sp>
        <p:nvSpPr>
          <p:cNvPr id="408" name="Google Shape;408;p23"/>
          <p:cNvSpPr txBox="1"/>
          <p:nvPr/>
        </p:nvSpPr>
        <p:spPr>
          <a:xfrm>
            <a:off x="533400" y="1057275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Strategic Action Roadmap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